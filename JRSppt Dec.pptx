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72" r:id="rId3"/>
    <p:sldId id="258" r:id="rId4"/>
    <p:sldId id="301" r:id="rId5"/>
    <p:sldId id="311" r:id="rId6"/>
    <p:sldId id="297" r:id="rId7"/>
    <p:sldId id="302" r:id="rId8"/>
    <p:sldId id="303" r:id="rId9"/>
    <p:sldId id="298" r:id="rId10"/>
    <p:sldId id="299" r:id="rId11"/>
    <p:sldId id="300" r:id="rId12"/>
    <p:sldId id="310" r:id="rId13"/>
    <p:sldId id="304" r:id="rId14"/>
    <p:sldId id="309" r:id="rId15"/>
    <p:sldId id="305" r:id="rId16"/>
    <p:sldId id="269" r:id="rId17"/>
    <p:sldId id="273" r:id="rId18"/>
    <p:sldId id="307" r:id="rId19"/>
    <p:sldId id="270" r:id="rId20"/>
    <p:sldId id="308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B892"/>
    <a:srgbClr val="B08968"/>
    <a:srgbClr val="7F5539"/>
    <a:srgbClr val="FFFAEB"/>
    <a:srgbClr val="F5F5DC"/>
    <a:srgbClr val="E6CCB2"/>
    <a:srgbClr val="FFF2CD"/>
    <a:srgbClr val="A0785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78" autoAdjust="0"/>
    <p:restoredTop sz="94363" autoAdjust="0"/>
  </p:normalViewPr>
  <p:slideViewPr>
    <p:cSldViewPr snapToGrid="0">
      <p:cViewPr varScale="1">
        <p:scale>
          <a:sx n="78" d="100"/>
          <a:sy n="78" d="100"/>
        </p:scale>
        <p:origin x="710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4325B0-0F84-485C-A900-B97D4071B096}" type="datetimeFigureOut">
              <a:rPr lang="en-IN" smtClean="0"/>
              <a:t>10-12-2025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7C46E6-0FDA-4D7E-9542-2495E0024E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487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FE5FB-DAAD-9640-A937-32F50ED57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47439C-8262-EB52-62ED-CECF51F4E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37453E-52C1-0777-F033-C5156B36A3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134F1-DC61-83A9-AE7A-95FB36CE5F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46E6-0FDA-4D7E-9542-2495E0024E95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831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46E6-0FDA-4D7E-9542-2495E0024E95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926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93FA5-3A66-BB4D-1DF8-A4619D460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DA0E34-1F56-EA07-CC43-5F4BC7B7E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47159-5734-10A4-9F8D-3AD4163BE7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3B3A29-448B-6497-7BFA-27DB6F71AD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46E6-0FDA-4D7E-9542-2495E0024E9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547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58817-D8B6-8E17-8B4C-58B1460E8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ADD53A-3324-4D7B-9198-154FB8A67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19324B-694B-1B53-90F5-B1A3900FC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19F386-FCA4-C5C3-C090-EAA5BF34BA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46E6-0FDA-4D7E-9542-2495E0024E95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9620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7C46E6-0FDA-4D7E-9542-2495E0024E95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1269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923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003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70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54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68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673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470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27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07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9512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061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034D3-939B-4EBD-998C-7CAF7924BC78}" type="datetimeFigureOut">
              <a:rPr lang="en-US" smtClean="0"/>
              <a:pPr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1DCC36-F47F-4522-B396-0D2C342F40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3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5" y="5633061"/>
            <a:ext cx="11725274" cy="975159"/>
          </a:xfrm>
        </p:spPr>
        <p:txBody>
          <a:bodyPr>
            <a:normAutofit/>
          </a:bodyPr>
          <a:lstStyle/>
          <a:p>
            <a:r>
              <a:rPr lang="en-US" sz="3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BUDDHA INSTITUTE OF TECHNOLOGY</a:t>
            </a:r>
            <a:br>
              <a:rPr lang="en-US" sz="3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GIDA , GORAKHPUR</a:t>
            </a:r>
            <a:endParaRPr lang="en-US" sz="36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4418" y="737359"/>
            <a:ext cx="9423163" cy="2000338"/>
          </a:xfrm>
        </p:spPr>
        <p:txBody>
          <a:bodyPr>
            <a:normAutofit fontScale="92500" lnSpcReduction="10000"/>
          </a:bodyPr>
          <a:lstStyle/>
          <a:p>
            <a:r>
              <a:rPr lang="en-US" sz="32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Presentation</a:t>
            </a:r>
          </a:p>
          <a:p>
            <a:r>
              <a:rPr lang="en-US" sz="3200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</a:p>
          <a:p>
            <a: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Job Recommender System</a:t>
            </a:r>
          </a:p>
          <a:p>
            <a: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Using Hybrid Filtering</a:t>
            </a:r>
          </a:p>
          <a:p>
            <a:endParaRPr lang="en-US" sz="3200" b="1" dirty="0"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53558" y="3215378"/>
            <a:ext cx="5307818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: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Astha Srivastava (2205251540021)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Shreya Pandey (2305251549010)</a:t>
            </a:r>
          </a:p>
          <a:p>
            <a:pPr marL="457200" indent="-457200">
              <a:buAutoNum type="arabicPeriod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Ayushi Sonkar (2305251549002)</a:t>
            </a:r>
          </a:p>
          <a:p>
            <a:pPr marL="457200" indent="-457200">
              <a:buAutoNum type="arabicPeriod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05368" y="3215378"/>
            <a:ext cx="43458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Shashank Srivastava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Hod,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CSE-Data Science 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A97C05F7-01C2-D9C3-1281-7B2854DA0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0224" y="548026"/>
            <a:ext cx="135255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7313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B8A81-1063-A123-AB23-184B3A5A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6560" y="772160"/>
            <a:ext cx="4572000" cy="92646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OF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9B40CA-6BDB-9D79-CCA5-96E310871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7885" y="1698625"/>
            <a:ext cx="4759960" cy="4509135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for future work</a:t>
            </a:r>
          </a:p>
          <a:p>
            <a:pPr marL="514350" indent="-514350"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rabicPeriod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53142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FC7E-28DA-AE65-D69D-0E7EFDA47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8560" y="533716"/>
            <a:ext cx="3901440" cy="904241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>             </a:t>
            </a:r>
            <a:r>
              <a:rPr lang="en-IN" sz="36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311C239-4140-8E34-CBBA-CB04275D0B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045094"/>
              </p:ext>
            </p:extLst>
          </p:nvPr>
        </p:nvGraphicFramePr>
        <p:xfrm>
          <a:off x="1192162" y="1982941"/>
          <a:ext cx="10515600" cy="3200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405283">
                  <a:extLst>
                    <a:ext uri="{9D8B030D-6E8A-4147-A177-3AD203B41FA5}">
                      <a16:colId xmlns:a16="http://schemas.microsoft.com/office/drawing/2014/main" val="586381950"/>
                    </a:ext>
                  </a:extLst>
                </a:gridCol>
                <a:gridCol w="5110317">
                  <a:extLst>
                    <a:ext uri="{9D8B030D-6E8A-4147-A177-3AD203B41FA5}">
                      <a16:colId xmlns:a16="http://schemas.microsoft.com/office/drawing/2014/main" val="454221912"/>
                    </a:ext>
                  </a:extLst>
                </a:gridCol>
              </a:tblGrid>
              <a:tr h="1236529"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Recommendation Systems </a:t>
                      </a:r>
                    </a:p>
                    <a:p>
                      <a:pPr marL="252000"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tools designed to assist users in finding suitable employment by analyzing job content, user preferences, and candidate profiles using ML and NLP techniques.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Need for Automation </a:t>
                      </a:r>
                    </a:p>
                    <a:p>
                      <a:pPr marL="252000"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search is inefficient and time-consuming Keyword-based engines lack contextual understanding Semantic analysis improves relevance.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3838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 typeface="Wingdings" panose="05000000000000000000" pitchFamily="2" charset="2"/>
                        <a:buChar char="q"/>
                      </a:pPr>
                      <a:r>
                        <a:rPr lang="en-US" sz="18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HireHub</a:t>
                      </a: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Platform </a:t>
                      </a:r>
                    </a:p>
                    <a:p>
                      <a:pPr marL="252000" algn="just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Web-based job recommendation system integrating content based filtering with popularity-based ranking for accurate, user centered recommendations.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just">
                        <a:buFont typeface="Wingdings" panose="05000000000000000000" pitchFamily="2" charset="2"/>
                        <a:buChar char="q"/>
                      </a:pPr>
                      <a:r>
                        <a:rPr lang="en-US" sz="1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Components </a:t>
                      </a:r>
                    </a:p>
                    <a:p>
                      <a:pPr marL="36000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Query Processing </a:t>
                      </a:r>
                    </a:p>
                    <a:p>
                      <a:pPr marL="36000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Parsing &amp; Skill Extraction </a:t>
                      </a:r>
                    </a:p>
                    <a:p>
                      <a:pPr marL="36000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TF-IDF Based Matching</a:t>
                      </a:r>
                    </a:p>
                    <a:p>
                      <a:pPr marL="36000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Popularity-Based Ranking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404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1405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8ECF1-33E4-E2A1-2544-EB3B07503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120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E9F1AE-374B-CC06-211D-63EB97F255B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7167087"/>
              </p:ext>
            </p:extLst>
          </p:nvPr>
        </p:nvGraphicFramePr>
        <p:xfrm>
          <a:off x="1319980" y="1859454"/>
          <a:ext cx="10515600" cy="472203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1143794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02963054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6315937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86348322"/>
                    </a:ext>
                  </a:extLst>
                </a:gridCol>
              </a:tblGrid>
              <a:tr h="53034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&amp; Year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B089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Focus/Technique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B089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B0896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</a:t>
                      </a:r>
                      <a:endParaRPr lang="en-IN" sz="1600" b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B08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3211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Shrivastava et al. (2022)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 filtering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Combines content + collaborative methods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structured user history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1542045"/>
                  </a:ext>
                </a:extLst>
              </a:tr>
              <a:tr h="66819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Martínez et al. (2021)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Profile-based hybrid model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professional profiles for matching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structured data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9477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 (2023)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HybridBERT4Rec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BERT embeddings + collaborative filtering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628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600"/>
                        </a:spcAft>
                        <a:buNone/>
                      </a:pP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et al. (2021)</a:t>
                      </a:r>
                      <a:endParaRPr lang="en-IN" sz="16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01600" marR="101600" marT="50800" marB="5080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TIMBRE framework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Scalable job recommendation using signals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user activity logs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423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Park et al. (2022)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Resume parsing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Learning-based skill extraction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annotated training data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2207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 &amp; Xu (2023)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matching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Multi-stage extraction for candidate-job matching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varies with resume quality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0399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&amp; Kim (2023)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JRS review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Summarizes modern job matching strategies</a:t>
                      </a:r>
                      <a:endParaRPr lang="en-IN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Review-based, no experimental </a:t>
                      </a:r>
                      <a:r>
                        <a:rPr lang="en-US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evaluatio</a:t>
                      </a:r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38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74578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721C2-082F-878A-A35B-57157D260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ECD73-818A-8ADB-6EFA-454CDF53F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55F31-8DD0-3319-60D2-3C451FE23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SOURCE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Kaggle</a:t>
            </a:r>
          </a:p>
          <a:p>
            <a:pPr lvl="0"/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Name: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LinkedIn Canada Data Science Jobs 2024</a:t>
            </a:r>
          </a:p>
          <a:p>
            <a:pPr marL="0" indent="0"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STRUCTURE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typically includes the following columns:</a:t>
            </a:r>
            <a:endParaRPr lang="en-IN" sz="1800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>
              <a:lnSpc>
                <a:spcPct val="260000"/>
              </a:lnSpc>
            </a:pPr>
            <a:endParaRPr lang="en-IN" b="1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206FD43-A899-FBF2-F840-55BAAE0C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249697"/>
              </p:ext>
            </p:extLst>
          </p:nvPr>
        </p:nvGraphicFramePr>
        <p:xfrm>
          <a:off x="977244" y="3705097"/>
          <a:ext cx="8009440" cy="27877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0999">
                  <a:extLst>
                    <a:ext uri="{9D8B030D-6E8A-4147-A177-3AD203B41FA5}">
                      <a16:colId xmlns:a16="http://schemas.microsoft.com/office/drawing/2014/main" val="3530832664"/>
                    </a:ext>
                  </a:extLst>
                </a:gridCol>
                <a:gridCol w="5878441">
                  <a:extLst>
                    <a:ext uri="{9D8B030D-6E8A-4147-A177-3AD203B41FA5}">
                      <a16:colId xmlns:a16="http://schemas.microsoft.com/office/drawing/2014/main" val="3990635497"/>
                    </a:ext>
                  </a:extLst>
                </a:gridCol>
              </a:tblGrid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Column Name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0896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B08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975274"/>
                  </a:ext>
                </a:extLst>
              </a:tr>
              <a:tr h="51751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Title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the job posting (e.g., Data Scientist, Data Analyst, ML Engineer).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515035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Company Name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company offering the job.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1612247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Location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 or province within Canada where the job is located.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098973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Job Type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Employment type (Full-time, Part-time, Contract, Remote, etc.).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741727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Posted Date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date when the job was posted.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693663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Skills / Job Description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 skills or responsibilities listed in the job post.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757566"/>
                  </a:ext>
                </a:extLst>
              </a:tr>
              <a:tr h="324323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Seniority Level</a:t>
                      </a:r>
                      <a:endParaRPr lang="en-IN" sz="14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Indicates whether the role is entry-level, mid-level, or senior, if available.</a:t>
                      </a:r>
                      <a:endParaRPr lang="en-IN" sz="14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DDB8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372728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B2259AC-4F90-928A-CDE9-172BBC4E1189}"/>
              </a:ext>
            </a:extLst>
          </p:cNvPr>
          <p:cNvSpPr txBox="1"/>
          <p:nvPr/>
        </p:nvSpPr>
        <p:spPr>
          <a:xfrm>
            <a:off x="7854991" y="1690688"/>
            <a:ext cx="6096000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Rows: 315 rows (job listings)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Columns:10 columns (features)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3701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A6A2632-02AA-5778-4E13-FF4417D719BF}"/>
              </a:ext>
            </a:extLst>
          </p:cNvPr>
          <p:cNvSpPr txBox="1"/>
          <p:nvPr/>
        </p:nvSpPr>
        <p:spPr>
          <a:xfrm>
            <a:off x="4137651" y="6969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23D64A-8A88-6A40-BE1B-E6ADB356D70D}"/>
              </a:ext>
            </a:extLst>
          </p:cNvPr>
          <p:cNvSpPr txBox="1"/>
          <p:nvPr/>
        </p:nvSpPr>
        <p:spPr>
          <a:xfrm>
            <a:off x="1457011" y="1227414"/>
            <a:ext cx="103598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Filtering Approach for Job Recommendation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integrates Content-Based Filtering with Popularity-Based Ranking to deliver accurate, relevant, and user-centered job recommendations through both keyword search and resume-based matching.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C2100D-3CBA-589B-38B1-87CA0C3C96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911" y="2382848"/>
            <a:ext cx="3347109" cy="42512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961724C-3949-A962-27D0-CC7DE4AE7C1F}"/>
              </a:ext>
            </a:extLst>
          </p:cNvPr>
          <p:cNvSpPr txBox="1"/>
          <p:nvPr/>
        </p:nvSpPr>
        <p:spPr>
          <a:xfrm>
            <a:off x="1630311" y="2250276"/>
            <a:ext cx="5865759" cy="446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ui-sans-serif"/>
              </a:rPr>
              <a:t>1</a:t>
            </a:r>
            <a:endParaRPr lang="en-US" b="0" i="0" dirty="0">
              <a:solidFill>
                <a:srgbClr val="000000"/>
              </a:solidFill>
              <a:effectLst/>
              <a:latin typeface="ui-sans-serif"/>
            </a:endParaRPr>
          </a:p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</a:t>
            </a:r>
          </a:p>
          <a:p>
            <a:pPr algn="l">
              <a:buNone/>
            </a:pPr>
            <a:r>
              <a:rPr lang="en-US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Converts job descriptions into numerical vectors using term frequency analysis</a:t>
            </a:r>
          </a:p>
          <a:p>
            <a:pPr algn="l"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Resume Processing</a:t>
            </a:r>
          </a:p>
          <a:p>
            <a:pPr algn="l">
              <a:buNone/>
            </a:pPr>
            <a:r>
              <a:rPr lang="en-US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Extracts skills and keywords from PDF/DOCX resume files</a:t>
            </a:r>
          </a:p>
          <a:p>
            <a:pPr algn="l"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Scoring</a:t>
            </a:r>
          </a:p>
          <a:p>
            <a:pPr algn="l">
              <a:buNone/>
            </a:pPr>
            <a:r>
              <a:rPr lang="en-US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Combines similarity scores with popularity metrics for balanced ranking</a:t>
            </a:r>
          </a:p>
          <a:p>
            <a:pPr algn="l">
              <a:buNone/>
            </a:pPr>
            <a:r>
              <a:rPr lang="en-US" b="1" i="0" dirty="0">
                <a:solidFill>
                  <a:srgbClr val="FFFFF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b="0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l">
              <a:spcAft>
                <a:spcPts val="450"/>
              </a:spcAft>
              <a:buFont typeface="Wingdings" panose="05000000000000000000" pitchFamily="2" charset="2"/>
              <a:buChar char="q"/>
            </a:pPr>
            <a:r>
              <a:rPr lang="en-US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Display</a:t>
            </a:r>
          </a:p>
          <a:p>
            <a:pPr algn="l">
              <a:buNone/>
            </a:pPr>
            <a:r>
              <a:rPr lang="en-US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Presents ranked job recommendations with detailed information</a:t>
            </a:r>
          </a:p>
        </p:txBody>
      </p:sp>
    </p:spTree>
    <p:extLst>
      <p:ext uri="{BB962C8B-B14F-4D97-AF65-F5344CB8AC3E}">
        <p14:creationId xmlns:p14="http://schemas.microsoft.com/office/powerpoint/2010/main" val="2620929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EBC1E-3AFE-011F-6FEA-98F7513A1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354504-7447-14C5-F005-16E830A446CA}"/>
              </a:ext>
            </a:extLst>
          </p:cNvPr>
          <p:cNvSpPr txBox="1"/>
          <p:nvPr/>
        </p:nvSpPr>
        <p:spPr>
          <a:xfrm>
            <a:off x="4137651" y="6969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4EA1F4-A40A-0655-CA52-0601F22CC8B2}"/>
              </a:ext>
            </a:extLst>
          </p:cNvPr>
          <p:cNvSpPr txBox="1"/>
          <p:nvPr/>
        </p:nvSpPr>
        <p:spPr>
          <a:xfrm>
            <a:off x="2697102" y="1281770"/>
            <a:ext cx="750341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Model &amp; Text Preparation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E7EB31-D338-D2F8-095F-9745244E358B}"/>
              </a:ext>
            </a:extLst>
          </p:cNvPr>
          <p:cNvSpPr txBox="1"/>
          <p:nvPr/>
        </p:nvSpPr>
        <p:spPr>
          <a:xfrm>
            <a:off x="6448810" y="1964973"/>
            <a:ext cx="609432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Merge job title, skills, and description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Remove special characters and noise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to lowercase for uniformity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Handle missing values with fallback keywords</a:t>
            </a:r>
          </a:p>
          <a:p>
            <a:pPr algn="l">
              <a:lnSpc>
                <a:spcPct val="200000"/>
              </a:lnSpc>
              <a:buNone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N-gram Vectorization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Unigrams, bigrams, and trigrams (1-3)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 features: 10,000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English </a:t>
            </a:r>
            <a:r>
              <a:rPr lang="en-IN" b="0" i="0" dirty="0" err="1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stopwords</a:t>
            </a: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removed</a:t>
            </a:r>
          </a:p>
          <a:p>
            <a:pPr marL="285750" indent="-285750" algn="l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Captures multi-word skills like "machine learning"</a:t>
            </a:r>
          </a:p>
          <a:p>
            <a:pPr algn="l">
              <a:lnSpc>
                <a:spcPct val="200000"/>
              </a:lnSpc>
              <a:buNone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TF-IDF Matrix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Sparse matrix representation enables efficient cosine similarity computation for job matching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1A7F2-06B2-AF9E-0487-4BF1430AF54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396" b="7756"/>
          <a:stretch>
            <a:fillRect/>
          </a:stretch>
        </p:blipFill>
        <p:spPr bwMode="auto">
          <a:xfrm>
            <a:off x="244428" y="2175554"/>
            <a:ext cx="6094324" cy="34006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CB9AA2-FA6F-09B9-91F3-D6FDE3DF65AC}"/>
              </a:ext>
            </a:extLst>
          </p:cNvPr>
          <p:cNvSpPr txBox="1"/>
          <p:nvPr/>
        </p:nvSpPr>
        <p:spPr>
          <a:xfrm>
            <a:off x="134370" y="5695973"/>
            <a:ext cx="631444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Vectorization Pipeline and Feature Extraction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0416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BC7E8-9B8C-A67F-AF0B-01302D88C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576799-1FFA-507F-9510-CBACB14DB94D}"/>
              </a:ext>
            </a:extLst>
          </p:cNvPr>
          <p:cNvSpPr txBox="1"/>
          <p:nvPr/>
        </p:nvSpPr>
        <p:spPr>
          <a:xfrm>
            <a:off x="4137651" y="696995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0DCC1F3-448A-380C-6702-8DBF374BCA06}"/>
              </a:ext>
            </a:extLst>
          </p:cNvPr>
          <p:cNvSpPr txBox="1"/>
          <p:nvPr/>
        </p:nvSpPr>
        <p:spPr>
          <a:xfrm>
            <a:off x="919102" y="1375335"/>
            <a:ext cx="750341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1918AA-BDF6-8248-F929-D53791D0EDF9}"/>
              </a:ext>
            </a:extLst>
          </p:cNvPr>
          <p:cNvSpPr txBox="1"/>
          <p:nvPr/>
        </p:nvSpPr>
        <p:spPr>
          <a:xfrm>
            <a:off x="1622810" y="1281770"/>
            <a:ext cx="914679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i="0" dirty="0">
                <a:solidFill>
                  <a:srgbClr val="1A1A1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Recommendation Formula</a:t>
            </a:r>
          </a:p>
          <a:p>
            <a:pPr algn="ctr">
              <a:buNone/>
            </a:pPr>
            <a:r>
              <a:rPr lang="en-IN" sz="2000" b="0" i="0" dirty="0">
                <a:solidFill>
                  <a:srgbClr val="55555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Combining Content Similarity and Popularity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80938E1-073A-3E93-4C80-4E60B778A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075180"/>
              </p:ext>
            </p:extLst>
          </p:nvPr>
        </p:nvGraphicFramePr>
        <p:xfrm>
          <a:off x="3617406" y="2205100"/>
          <a:ext cx="5306647" cy="531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98059">
                  <a:extLst>
                    <a:ext uri="{9D8B030D-6E8A-4147-A177-3AD203B41FA5}">
                      <a16:colId xmlns:a16="http://schemas.microsoft.com/office/drawing/2014/main" val="3100472528"/>
                    </a:ext>
                  </a:extLst>
                </a:gridCol>
                <a:gridCol w="2808588">
                  <a:extLst>
                    <a:ext uri="{9D8B030D-6E8A-4147-A177-3AD203B41FA5}">
                      <a16:colId xmlns:a16="http://schemas.microsoft.com/office/drawing/2014/main" val="3425716715"/>
                    </a:ext>
                  </a:extLst>
                </a:gridCol>
              </a:tblGrid>
              <a:tr h="531105"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355628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B95FC066-3A16-2C7E-03D5-15D51A283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447" y="3204630"/>
            <a:ext cx="3881566" cy="342588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CE7ED28-D140-B2F6-23C0-802D4A1FBCEB}"/>
              </a:ext>
            </a:extLst>
          </p:cNvPr>
          <p:cNvSpPr txBox="1"/>
          <p:nvPr/>
        </p:nvSpPr>
        <p:spPr>
          <a:xfrm>
            <a:off x="5704951" y="3340478"/>
            <a:ext cx="6072833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b="1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PDF/DOCX Support</a:t>
            </a:r>
          </a:p>
          <a:p>
            <a:pPr algn="just"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Robust text extraction using </a:t>
            </a:r>
            <a:r>
              <a:rPr lang="en-IN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PDFMiner</a:t>
            </a: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PyPDF2, and docx2txt</a:t>
            </a:r>
          </a:p>
          <a:p>
            <a:pPr marL="285750" indent="-285750" algn="just"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Skill Extraction</a:t>
            </a:r>
          </a:p>
          <a:p>
            <a:pPr algn="just">
              <a:spcBef>
                <a:spcPts val="900"/>
              </a:spcBef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Dictionary-based keyword matching with regex patterns</a:t>
            </a:r>
          </a:p>
          <a:p>
            <a:pPr marL="285750" indent="-285750" algn="just">
              <a:spcBef>
                <a:spcPts val="900"/>
              </a:spcBef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Popularity Normalization</a:t>
            </a:r>
          </a:p>
          <a:p>
            <a:pPr algn="just">
              <a:spcBef>
                <a:spcPts val="900"/>
              </a:spcBef>
              <a:buNone/>
            </a:pPr>
            <a:r>
              <a:rPr lang="en-IN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 prevents bias toward extremely popular jobs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0FA531-1DBA-4644-D586-874B283628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658" t="-819" r="15879" b="-1"/>
          <a:stretch>
            <a:fillRect/>
          </a:stretch>
        </p:blipFill>
        <p:spPr>
          <a:xfrm>
            <a:off x="2873829" y="2112767"/>
            <a:ext cx="6444342" cy="90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28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784E0-8375-596B-B09A-C7F961655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649A24-BA02-6A9F-E61D-28CD31B033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Homepage of </a:t>
            </a:r>
            <a:r>
              <a:rPr lang="en-IN" sz="3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HireHub</a:t>
            </a:r>
            <a:endParaRPr lang="en-IN" sz="3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D84432BD-EE4A-0AE8-64B9-EADBD12E503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729"/>
          <a:stretch>
            <a:fillRect/>
          </a:stretch>
        </p:blipFill>
        <p:spPr bwMode="auto">
          <a:xfrm>
            <a:off x="2349909" y="1481479"/>
            <a:ext cx="7688115" cy="39899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234152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E210D-5F22-8589-3D5F-D70F677D6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63893-228D-7940-677E-C130E627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A8FD3F-41AD-5127-8810-BF00320C1D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Search Interface</a:t>
            </a:r>
          </a:p>
          <a:p>
            <a:pPr>
              <a:lnSpc>
                <a:spcPct val="260000"/>
              </a:lnSpc>
            </a:pPr>
            <a:endParaRPr lang="en-IN" b="1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F4CE45-3826-4022-0343-DE78F1B727C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77"/>
          <a:stretch>
            <a:fillRect/>
          </a:stretch>
        </p:blipFill>
        <p:spPr bwMode="auto">
          <a:xfrm>
            <a:off x="2252645" y="1350047"/>
            <a:ext cx="7896107" cy="412652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37080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EA98F-8F8D-111D-BB4F-D85CCECD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0865D-8810-8CB4-BA88-6EA70CC2B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129F8FC-3CF3-06C8-BCDF-90839F3C2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Upload Interface</a:t>
            </a:r>
          </a:p>
          <a:p>
            <a:pPr>
              <a:lnSpc>
                <a:spcPct val="260000"/>
              </a:lnSpc>
            </a:pPr>
            <a:endParaRPr lang="en-IN" b="1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0D0744-1BBA-26AD-F5CD-96A57B81E76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3"/>
          <a:stretch>
            <a:fillRect/>
          </a:stretch>
        </p:blipFill>
        <p:spPr bwMode="auto">
          <a:xfrm>
            <a:off x="2261420" y="1500806"/>
            <a:ext cx="7343570" cy="385638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41881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4B980-0AF0-4028-679B-311A8BC97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9633E-AB55-E487-957E-7C5A82101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BF1533-C083-8BAE-6BAF-9AF346B4FD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endParaRPr lang="en-IN" b="1" dirty="0"/>
          </a:p>
          <a:p>
            <a:pPr marL="0" indent="0" algn="ctr">
              <a:lnSpc>
                <a:spcPct val="26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Based Recommendations</a:t>
            </a:r>
          </a:p>
          <a:p>
            <a:pPr>
              <a:lnSpc>
                <a:spcPct val="260000"/>
              </a:lnSpc>
            </a:pPr>
            <a:endParaRPr lang="en-IN" b="1" dirty="0"/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0EE20B3-2263-D7DC-A9B4-291BA1110FF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77"/>
          <a:stretch>
            <a:fillRect/>
          </a:stretch>
        </p:blipFill>
        <p:spPr bwMode="auto">
          <a:xfrm>
            <a:off x="2291074" y="1440538"/>
            <a:ext cx="7609851" cy="397692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85597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09D0F-6773-21BF-4390-7EA51F9E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EE32209-84AD-0190-821B-67EF9E597C2C}"/>
              </a:ext>
            </a:extLst>
          </p:cNvPr>
          <p:cNvSpPr txBox="1"/>
          <p:nvPr/>
        </p:nvSpPr>
        <p:spPr>
          <a:xfrm>
            <a:off x="1789122" y="594971"/>
            <a:ext cx="75034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96430D-7E6B-CA2A-D4EC-708C543CDF93}"/>
              </a:ext>
            </a:extLst>
          </p:cNvPr>
          <p:cNvSpPr txBox="1"/>
          <p:nvPr/>
        </p:nvSpPr>
        <p:spPr>
          <a:xfrm>
            <a:off x="3045279" y="1179746"/>
            <a:ext cx="610144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i="0" u="none" strike="noStrike" baseline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Results</a:t>
            </a:r>
          </a:p>
          <a:p>
            <a:pPr algn="ctr"/>
            <a:r>
              <a:rPr lang="en-IN" sz="2800" b="0" i="0" u="none" strike="noStrike" baseline="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Search-Based vs Resume-Based Outputs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526372-CA7D-EDE9-38C9-6658D1EAD7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484" y="2332426"/>
            <a:ext cx="6411687" cy="40612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87EE66-F8DF-0BFC-E608-1F239628353C}"/>
              </a:ext>
            </a:extLst>
          </p:cNvPr>
          <p:cNvSpPr txBox="1"/>
          <p:nvPr/>
        </p:nvSpPr>
        <p:spPr>
          <a:xfrm>
            <a:off x="7698921" y="4560863"/>
            <a:ext cx="610144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 Query:</a:t>
            </a:r>
          </a:p>
          <a:p>
            <a:pPr algn="l"/>
            <a:r>
              <a:rPr lang="en-IN" sz="1800" b="1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</a:t>
            </a:r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Machine Learning Engineer</a:t>
            </a:r>
          </a:p>
          <a:p>
            <a:pPr algn="l"/>
            <a:r>
              <a:rPr lang="en-IN" sz="1800" b="1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Toronto</a:t>
            </a:r>
          </a:p>
          <a:p>
            <a:pPr algn="l"/>
            <a:r>
              <a:rPr lang="en-IN" sz="1800" b="1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Experience</a:t>
            </a:r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Entry-Level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54687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16BB4C-ED6D-08C1-79B1-771137A82EFC}"/>
              </a:ext>
            </a:extLst>
          </p:cNvPr>
          <p:cNvSpPr txBox="1"/>
          <p:nvPr/>
        </p:nvSpPr>
        <p:spPr>
          <a:xfrm>
            <a:off x="1730828" y="1710778"/>
            <a:ext cx="87303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Extracted Skills Example: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Python, Machine Learning, TensorFlow, Data Cleaning, Statistics, SQL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914510-C4A3-CD3E-DB6A-891337BB9B91}"/>
              </a:ext>
            </a:extLst>
          </p:cNvPr>
          <p:cNvSpPr txBox="1"/>
          <p:nvPr/>
        </p:nvSpPr>
        <p:spPr>
          <a:xfrm>
            <a:off x="8868329" y="3414788"/>
            <a:ext cx="627017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u="none" strike="noStrike" baseline="0" dirty="0">
                <a:solidFill>
                  <a:srgbClr val="1A1A1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Recommended Roles:</a:t>
            </a:r>
          </a:p>
          <a:p>
            <a:pPr algn="l"/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Data Scientist</a:t>
            </a:r>
          </a:p>
          <a:p>
            <a:pPr algn="l"/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ML Engineer</a:t>
            </a:r>
          </a:p>
          <a:p>
            <a:pPr algn="l"/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Data Analyst</a:t>
            </a:r>
          </a:p>
          <a:p>
            <a:pPr algn="l"/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Research Assistant (AI/ML)</a:t>
            </a:r>
          </a:p>
          <a:p>
            <a:pPr algn="l"/>
            <a:r>
              <a:rPr lang="en-IN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Deep Learning Engineer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6C0622-EEFE-766E-B3AD-798E8C6AC83E}"/>
              </a:ext>
            </a:extLst>
          </p:cNvPr>
          <p:cNvSpPr txBox="1"/>
          <p:nvPr/>
        </p:nvSpPr>
        <p:spPr>
          <a:xfrm>
            <a:off x="2881993" y="914163"/>
            <a:ext cx="64280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RESULTS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9B4761-3FEE-218F-17EA-ED4425DDCD46}"/>
              </a:ext>
            </a:extLst>
          </p:cNvPr>
          <p:cNvSpPr txBox="1"/>
          <p:nvPr/>
        </p:nvSpPr>
        <p:spPr>
          <a:xfrm>
            <a:off x="522515" y="5359062"/>
            <a:ext cx="1139734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0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algn="l"/>
            <a:r>
              <a:rPr lang="en-US" sz="1800" b="0" i="0" u="none" strike="noStrike" baseline="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Resume-based mode provides highly personalized results for users who possess relevant skills but may not know exact job titles. Skill-based weighting delivers more accurate outputs than direct title matching.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BEAC38F-15E0-07F6-20DC-1B2C49B55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32" y="2644672"/>
            <a:ext cx="8173497" cy="2714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637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11D7A-D5F7-CDB4-3990-EAC6AC23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F47CB8-E60C-B20F-4FA4-38EE5FF52614}"/>
              </a:ext>
            </a:extLst>
          </p:cNvPr>
          <p:cNvSpPr txBox="1"/>
          <p:nvPr/>
        </p:nvSpPr>
        <p:spPr>
          <a:xfrm>
            <a:off x="2841939" y="650201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ESULT</a:t>
            </a:r>
            <a:endParaRPr lang="en-IN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ED244-110A-3B2B-E746-968C7E82BD7B}"/>
              </a:ext>
            </a:extLst>
          </p:cNvPr>
          <p:cNvSpPr txBox="1"/>
          <p:nvPr/>
        </p:nvSpPr>
        <p:spPr>
          <a:xfrm>
            <a:off x="223235" y="1451661"/>
            <a:ext cx="750341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305846-1390-6AEF-F0B3-5C100EC2CB98}"/>
              </a:ext>
            </a:extLst>
          </p:cNvPr>
          <p:cNvSpPr txBox="1"/>
          <p:nvPr/>
        </p:nvSpPr>
        <p:spPr>
          <a:xfrm>
            <a:off x="1460221" y="1135399"/>
            <a:ext cx="8859436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</a:p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Efficiency and Score Distribution Metrics</a:t>
            </a:r>
          </a:p>
          <a:p>
            <a:pPr algn="ctr">
              <a:buNone/>
            </a:pP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AC787-C6BD-82CD-F728-5B262313EE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8" b="-2363"/>
          <a:stretch>
            <a:fillRect/>
          </a:stretch>
        </p:blipFill>
        <p:spPr>
          <a:xfrm>
            <a:off x="223235" y="2251880"/>
            <a:ext cx="7839432" cy="43411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AA87CF-167A-7AB7-E71E-D70BCD8D57DC}"/>
              </a:ext>
            </a:extLst>
          </p:cNvPr>
          <p:cNvSpPr txBox="1"/>
          <p:nvPr/>
        </p:nvSpPr>
        <p:spPr>
          <a:xfrm>
            <a:off x="8170822" y="2251880"/>
            <a:ext cx="4021178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IN" sz="1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sz="16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sz="1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</a:p>
          <a:p>
            <a:pPr algn="l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response times with precomputed TF-IDF </a:t>
            </a:r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</a:p>
          <a:p>
            <a:pPr algn="l"/>
            <a:r>
              <a:rPr lang="en-IN" sz="1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</a:p>
          <a:p>
            <a:pPr algn="l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prevents pure popularity bias</a:t>
            </a:r>
          </a:p>
          <a:p>
            <a:pPr algn="l"/>
            <a:r>
              <a:rPr lang="en-IN" sz="1600" b="1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</a:t>
            </a:r>
          </a:p>
          <a:p>
            <a:pPr algn="l"/>
            <a:r>
              <a:rPr lang="en-US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thousands of jobs with minimal</a:t>
            </a:r>
          </a:p>
          <a:p>
            <a:pPr algn="l"/>
            <a:r>
              <a:rPr lang="en-IN" sz="16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modifications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4717BA-CA3E-CEB0-C8AC-4F1EE16DC6F7}"/>
              </a:ext>
            </a:extLst>
          </p:cNvPr>
          <p:cNvSpPr txBox="1"/>
          <p:nvPr/>
        </p:nvSpPr>
        <p:spPr>
          <a:xfrm>
            <a:off x="8170822" y="5027989"/>
            <a:ext cx="3598391" cy="142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en-IN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Query Execution Time</a:t>
            </a:r>
            <a:endParaRPr lang="en-I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Search-based queries: </a:t>
            </a:r>
            <a:r>
              <a:rPr lang="en-IN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0.6-0.8 seconds</a:t>
            </a:r>
            <a:endParaRPr lang="en-IN" sz="1600" b="1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Resume-based queries: </a:t>
            </a:r>
            <a:r>
              <a:rPr lang="en-IN" sz="1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1–1.6 seconds</a:t>
            </a:r>
            <a:br>
              <a:rPr lang="en-I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IN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(delay due to PDF/DOCX parsing)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Voice-based queries: </a:t>
            </a:r>
            <a:r>
              <a:rPr lang="en-IN" sz="1600" b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0.4-0.6 seconds</a:t>
            </a:r>
            <a:endParaRPr lang="en-IN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62180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A7637-97B6-041C-BA52-D8945D10E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258" y="32433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97FA3E-9248-78B6-61D3-A7C371355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329" y="1288161"/>
            <a:ext cx="9841550" cy="5899219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Achievements </a:t>
            </a:r>
          </a:p>
          <a:p>
            <a:pPr marL="252000" indent="0" algn="just">
              <a:lnSpc>
                <a:spcPct val="150000"/>
              </a:lnSpc>
              <a:buNone/>
            </a:pPr>
            <a:r>
              <a:rPr lang="en-US" sz="3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HireHub</a:t>
            </a: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demonstrates how AI, NLP, and machine learning can build an efficient job recommendation platform that bridges the gap between job seekers and suitable employment opportunities.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 Integrated</a:t>
            </a:r>
          </a:p>
          <a:p>
            <a:pPr marL="360000" algn="just">
              <a:lnSpc>
                <a:spcPct val="15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vectorization for text similarity analysis</a:t>
            </a:r>
          </a:p>
          <a:p>
            <a:pPr marL="360000" algn="just">
              <a:lnSpc>
                <a:spcPct val="15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Resume parsing and skill extraction (PDF/DOCX support) </a:t>
            </a:r>
          </a:p>
          <a:p>
            <a:pPr marL="360000" algn="just">
              <a:lnSpc>
                <a:spcPct val="15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recommendation logic combining relevance and popularity </a:t>
            </a:r>
          </a:p>
          <a:p>
            <a:pPr marL="360000" algn="just">
              <a:lnSpc>
                <a:spcPct val="15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Flask-based backend architecture with modular design </a:t>
            </a:r>
          </a:p>
          <a:p>
            <a:pPr marL="360000" algn="just">
              <a:lnSpc>
                <a:spcPct val="150000"/>
              </a:lnSpc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features: chatbot and voice search</a:t>
            </a:r>
          </a:p>
          <a:p>
            <a:pPr marL="131400" indent="0" algn="just">
              <a:lnSpc>
                <a:spcPct val="150000"/>
              </a:lnSpc>
              <a:buNone/>
            </a:pPr>
            <a:r>
              <a:rPr lang="en-US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7986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4560C-E477-402A-D06E-4DED036D1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402" y="4300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 FOR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4937F-CDAB-BE07-F7E8-30F3CD4A6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636" y="1755618"/>
            <a:ext cx="10515600" cy="40719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Enhancements </a:t>
            </a:r>
          </a:p>
          <a:p>
            <a:pPr marL="537750" indent="-28575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Embeddings: Replace TF-IDF with BERT, Word2Vec, or Sentence Transformers for better contextual     understanding </a:t>
            </a:r>
          </a:p>
          <a:p>
            <a:pPr marL="537750" indent="-28575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Scraping: Integrate LinkedIn API, Indeed API for live job postings</a:t>
            </a:r>
          </a:p>
          <a:p>
            <a:pPr marL="537750" indent="-28575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Parsing: Incorporate deep learning for improved resume extraction </a:t>
            </a:r>
          </a:p>
          <a:p>
            <a:pPr marL="537750" indent="-28575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Collaborative Filtering: Add user activity-based recommendations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Experience</a:t>
            </a:r>
          </a:p>
          <a:p>
            <a:pPr marL="53640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Dashboard: Save jobs, track applications, update preferences </a:t>
            </a:r>
          </a:p>
          <a:p>
            <a:pPr marL="53640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 System: Job alerts, skill-gap insights, career suggestions </a:t>
            </a:r>
          </a:p>
          <a:p>
            <a:pPr marL="536400" algn="just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Interview Prep Tools: Skill quizzes, mock interviews, resume improvement </a:t>
            </a:r>
          </a:p>
        </p:txBody>
      </p:sp>
    </p:spTree>
    <p:extLst>
      <p:ext uri="{BB962C8B-B14F-4D97-AF65-F5344CB8AC3E}">
        <p14:creationId xmlns:p14="http://schemas.microsoft.com/office/powerpoint/2010/main" val="3868962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99373-93A2-2253-C109-59A479FEF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E30B6-3D69-5882-C15E-DE644FEADF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692" y="4099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SCOPE FOR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0400E5-D793-4B5C-19C4-D8485026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4070" y="1735520"/>
            <a:ext cx="10515600" cy="4071938"/>
          </a:xfrm>
        </p:spPr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 Expansion </a:t>
            </a:r>
          </a:p>
          <a:p>
            <a:pPr marL="32400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App: Develop Android/iOS applications </a:t>
            </a:r>
          </a:p>
          <a:p>
            <a:pPr marL="32400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Multi-Region Support: Expand to global job markets </a:t>
            </a:r>
          </a:p>
          <a:p>
            <a:pPr marL="324000" indent="0" algn="just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Multi-Domain: Include non-technical and multidisciplinary roles 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&amp; Analytics </a:t>
            </a:r>
          </a:p>
          <a:p>
            <a:pPr marL="3240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Dynamic popularity updates with real-time data </a:t>
            </a:r>
          </a:p>
          <a:p>
            <a:pPr marL="3240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User behavior analytics for personalization </a:t>
            </a:r>
          </a:p>
          <a:p>
            <a:pPr marL="32400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Market trend analysis and insights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6470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3BBC8-250B-3743-F33A-9996A768F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654" y="34796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6ECDD-2792-FBE1-4CB6-732469F5C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443" y="1673527"/>
            <a:ext cx="10409903" cy="53194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Research Papers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Shrivastava et al. (2022). "Hybrid Recommender Systems." ISCAP Conference Proceedings.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Ertuğrul, D. Ç. &amp;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Bitirim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 (2025). "Job Recommender Systems: A Systematic Review." Journal of Big Data, vol. 12.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Channarong, C. et al. (2022). "HybridBERT4Rec: A Hybrid Content-Based Filtering and Collaborative Filtering Recommender System Based on BERT." IEEE Access, vol. 10, pp. 56192– 56215.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Ahmed, S. A. et al. (2022). "Learning-Based Matched Representation System for Job Recommendation." Computers, vol. 11, no. 161.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Liu, P. et al. (2025). "A Scalable and Efficient Signal Integration System for Recommendation." </a:t>
            </a: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Resources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Pedregosa, F. et al. (2011). "Scikit-learn: Machine Learning in Python." Journal of Machine Learning Research, vol. 12, pp. 2825–2830.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 Flask Framework Documentation. https://flask.palletsprojects.com/ [8] Pandas Development Team. https://pandas.pydata.org/ </a:t>
            </a:r>
          </a:p>
          <a:p>
            <a:pPr marL="0" indent="0">
              <a:lnSpc>
                <a:spcPct val="100000"/>
              </a:lnSpc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3174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5EA9FB-CBE5-6C34-8B1F-58927B83D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58D16-DA17-AEE3-66DF-2D7DF2D86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121" y="4484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D94C5-6282-C0EC-275F-049B284F23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0344" y="1554093"/>
            <a:ext cx="10409903" cy="53194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 Kaggle (2024). "LinkedIn Canada Data Science Jobs 2024 Dataset." https://www.kaggle.com/</a:t>
            </a:r>
          </a:p>
        </p:txBody>
      </p:sp>
    </p:spTree>
    <p:extLst>
      <p:ext uri="{BB962C8B-B14F-4D97-AF65-F5344CB8AC3E}">
        <p14:creationId xmlns:p14="http://schemas.microsoft.com/office/powerpoint/2010/main" val="3368757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698641-D142-467B-11A2-B23875C88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155" y="2179586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8000" b="1" dirty="0"/>
              <a:t>        </a:t>
            </a: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</a:p>
          <a:p>
            <a:pPr marL="0" indent="0">
              <a:buNone/>
            </a:pPr>
            <a:r>
              <a:rPr lang="en-IN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YOU</a:t>
            </a:r>
          </a:p>
        </p:txBody>
      </p:sp>
    </p:spTree>
    <p:extLst>
      <p:ext uri="{BB962C8B-B14F-4D97-AF65-F5344CB8AC3E}">
        <p14:creationId xmlns:p14="http://schemas.microsoft.com/office/powerpoint/2010/main" val="29303829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EE3D6B8-217C-405A-9DF0-D79C84F1A367}" vid="{AB1037C6-1D01-4ACD-8751-308F6ED5C5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F5CC2D-3C9B-46D1-B625-D21A2E02E176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3059</TotalTime>
  <Words>1299</Words>
  <Application>Microsoft Office PowerPoint</Application>
  <PresentationFormat>Widescreen</PresentationFormat>
  <Paragraphs>276</Paragraphs>
  <Slides>21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Times New Roman</vt:lpstr>
      <vt:lpstr>ui-sans-serif</vt:lpstr>
      <vt:lpstr>Wingdings</vt:lpstr>
      <vt:lpstr>Theme1</vt:lpstr>
      <vt:lpstr>BUDDHA INSTITUTE OF TECHNOLOGY GIDA , GORAKHPUR</vt:lpstr>
      <vt:lpstr>LIST OF CONTENT</vt:lpstr>
      <vt:lpstr>             INTRODUCTION</vt:lpstr>
      <vt:lpstr> LITERATURE REVIEW </vt:lpstr>
      <vt:lpstr>DATASET OVERVIEW</vt:lpstr>
      <vt:lpstr>PowerPoint Presentation</vt:lpstr>
      <vt:lpstr>PowerPoint Presentation</vt:lpstr>
      <vt:lpstr>PowerPoint Presentation</vt:lpstr>
      <vt:lpstr>PROJECT OVERVIEW</vt:lpstr>
      <vt:lpstr>PROJECT OVERVIEW</vt:lpstr>
      <vt:lpstr>PROJECT OVERVIEW</vt:lpstr>
      <vt:lpstr>PROJECT OVERVIEW</vt:lpstr>
      <vt:lpstr>PowerPoint Presentation</vt:lpstr>
      <vt:lpstr>PowerPoint Presentation</vt:lpstr>
      <vt:lpstr>PowerPoint Presentation</vt:lpstr>
      <vt:lpstr>CONCLUSION</vt:lpstr>
      <vt:lpstr>     SCOPE FOR FUTURE WORK</vt:lpstr>
      <vt:lpstr>     SCOPE FOR FUTURE WORK</vt:lpstr>
      <vt:lpstr>REFERENCES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LOGIC DESIGN</dc:title>
  <dc:creator>Prabha Kant Dwivedi</dc:creator>
  <cp:lastModifiedBy>Shreya Pandey</cp:lastModifiedBy>
  <cp:revision>190</cp:revision>
  <dcterms:created xsi:type="dcterms:W3CDTF">2018-07-10T10:19:06Z</dcterms:created>
  <dcterms:modified xsi:type="dcterms:W3CDTF">2025-12-10T06:42:15Z</dcterms:modified>
</cp:coreProperties>
</file>