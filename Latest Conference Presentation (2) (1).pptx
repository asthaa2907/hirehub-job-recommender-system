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70" r:id="rId10"/>
    <p:sldId id="277" r:id="rId11"/>
    <p:sldId id="269" r:id="rId12"/>
    <p:sldId id="268" r:id="rId13"/>
    <p:sldId id="276" r:id="rId14"/>
    <p:sldId id="263" r:id="rId15"/>
    <p:sldId id="271" r:id="rId16"/>
    <p:sldId id="272" r:id="rId17"/>
    <p:sldId id="273" r:id="rId18"/>
    <p:sldId id="274" r:id="rId19"/>
    <p:sldId id="264" r:id="rId20"/>
    <p:sldId id="275" r:id="rId21"/>
    <p:sldId id="265" r:id="rId22"/>
    <p:sldId id="266" r:id="rId23"/>
    <p:sldId id="26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8"/>
    <a:srgbClr val="FCF1C4"/>
    <a:srgbClr val="F9DE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>
      <p:cViewPr varScale="1">
        <p:scale>
          <a:sx n="59" d="100"/>
          <a:sy n="59" d="100"/>
        </p:scale>
        <p:origin x="15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85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57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B9097-E85D-4CF8-9255-9935DE0993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E0DD7B-3341-4CAB-AE1D-CE18F97B84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0DD7B-3341-4CAB-AE1D-CE18F97B84E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65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4DB85-14E2-5C0D-0708-0A9C6739A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E7054-88D6-A579-949A-CA653373C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07DA33-558D-7C0B-4132-8A7C21C39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327E0-2D02-9A4F-B1DF-BD49C6B2E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E0DD7B-3341-4CAB-AE1D-CE18F97B84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73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1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6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6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82" indent="-274313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82" indent="-274313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19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3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57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7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43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4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5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Oval 7"/>
          <p:cNvSpPr/>
          <p:nvPr/>
        </p:nvSpPr>
        <p:spPr>
          <a:xfrm>
            <a:off x="168818" y="21106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Donut 10"/>
          <p:cNvSpPr/>
          <p:nvPr/>
        </p:nvSpPr>
        <p:spPr>
          <a:xfrm rot="2315675">
            <a:off x="182882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1012875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51" indent="-283457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64" indent="-237738" algn="l" rtl="0" eaLnBrk="1" latinLnBrk="0" hangingPunct="1">
        <a:lnSpc>
          <a:spcPct val="100000"/>
        </a:lnSpc>
        <a:spcBef>
          <a:spcPts val="551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46" indent="-228594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53" indent="-173732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16" indent="-182875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22" indent="-182875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29" indent="-182875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192" indent="-182875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499" indent="-182875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838200"/>
            <a:ext cx="7391400" cy="36576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/>
              <a:t>1</a:t>
            </a:r>
            <a:r>
              <a:rPr lang="en-IN" sz="3600" b="1" baseline="30000" dirty="0"/>
              <a:t>st</a:t>
            </a:r>
            <a:r>
              <a:rPr lang="en-IN" sz="3600" b="1" dirty="0"/>
              <a:t> National Conference</a:t>
            </a:r>
            <a:br>
              <a:rPr lang="en-IN" sz="3600" dirty="0"/>
            </a:br>
            <a:r>
              <a:rPr lang="en-IN" sz="3100" dirty="0"/>
              <a:t>On</a:t>
            </a:r>
            <a:br>
              <a:rPr lang="en-IN" sz="3100" dirty="0"/>
            </a:br>
            <a:r>
              <a:rPr lang="en-US" sz="3100" dirty="0"/>
              <a:t>"Intelligent Systems, Machine Learning &amp; Data Science"</a:t>
            </a:r>
            <a:br>
              <a:rPr lang="en-US" sz="3100" dirty="0"/>
            </a:br>
            <a:r>
              <a:rPr lang="en-IN" sz="3100" dirty="0"/>
              <a:t>(ISMLDS-2026)</a:t>
            </a:r>
            <a:br>
              <a:rPr lang="en-IN" sz="3100" dirty="0"/>
            </a:br>
            <a:r>
              <a:rPr lang="en-US" sz="3100" dirty="0"/>
              <a:t>30th March – 1st April, 2026</a:t>
            </a:r>
            <a:br>
              <a:rPr lang="en-US" sz="3100" dirty="0"/>
            </a:br>
            <a:br>
              <a:rPr lang="en-US" sz="3200" b="1" dirty="0"/>
            </a:br>
            <a:r>
              <a:rPr lang="en-US" sz="2800" b="1" dirty="0"/>
              <a:t> </a:t>
            </a:r>
            <a:r>
              <a:rPr lang="en-US" sz="2800" b="1" dirty="0">
                <a:solidFill>
                  <a:srgbClr val="0070C0"/>
                </a:solidFill>
              </a:rPr>
              <a:t>Buddha Institute of  Technology 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GIDA, Gorakhpur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295400" y="4601691"/>
            <a:ext cx="11087100" cy="1295400"/>
          </a:xfrm>
        </p:spPr>
        <p:txBody>
          <a:bodyPr>
            <a:normAutofit/>
          </a:bodyPr>
          <a:lstStyle/>
          <a:p>
            <a:r>
              <a:rPr lang="en-IN" altLang="en-US" b="1" dirty="0">
                <a:solidFill>
                  <a:schemeClr val="tx1"/>
                </a:solidFill>
              </a:rPr>
              <a:t>                           </a:t>
            </a:r>
            <a:r>
              <a:rPr lang="en-US" altLang="en-US" b="1" dirty="0">
                <a:solidFill>
                  <a:schemeClr val="tx1"/>
                </a:solidFill>
              </a:rPr>
              <a:t>Job Recommender System Using Hybrid Filtering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600" y="533403"/>
            <a:ext cx="1610544" cy="1451759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975360" y="5144983"/>
            <a:ext cx="7940040" cy="1295400"/>
          </a:xfrm>
          <a:prstGeom prst="rect">
            <a:avLst/>
          </a:prstGeom>
        </p:spPr>
        <p:txBody>
          <a:bodyPr tIns="0">
            <a:normAutofit fontScale="85000" lnSpcReduction="10000"/>
          </a:bodyPr>
          <a:lstStyle/>
          <a:p>
            <a:pPr marL="27431" algn="ctr"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IN" altLang="en-US" sz="2800" dirty="0"/>
              <a:t>Shreya Pandey |</a:t>
            </a:r>
            <a:r>
              <a:rPr lang="en-US" altLang="en-US" sz="2800" dirty="0"/>
              <a:t> 2305251549010</a:t>
            </a:r>
          </a:p>
          <a:p>
            <a:pPr marL="27431" algn="ctr"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sz="2800" dirty="0"/>
              <a:t> Computer Science of Engineering – Data Science | 4</a:t>
            </a:r>
            <a:r>
              <a:rPr lang="en-US" sz="2800" baseline="30000" dirty="0"/>
              <a:t>th</a:t>
            </a:r>
            <a:r>
              <a:rPr lang="en-US" sz="2800" dirty="0"/>
              <a:t> Year</a:t>
            </a:r>
          </a:p>
          <a:p>
            <a:pPr marL="27431" algn="ctr">
              <a:spcBef>
                <a:spcPts val="600"/>
              </a:spcBef>
              <a:buClr>
                <a:schemeClr val="accent1"/>
              </a:buClr>
              <a:buSzPct val="80000"/>
            </a:pPr>
            <a:r>
              <a:rPr lang="en-US" sz="2800" dirty="0"/>
              <a:t>Guide Name :  Dr. Shashank Srivastava</a:t>
            </a:r>
          </a:p>
          <a:p>
            <a:pPr marL="27431" algn="ctr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endParaRPr lang="en-US" sz="3600" dirty="0"/>
          </a:p>
          <a:p>
            <a:pPr marL="27431">
              <a:spcBef>
                <a:spcPts val="600"/>
              </a:spcBef>
              <a:buClr>
                <a:schemeClr val="accent1"/>
              </a:buClr>
              <a:buSzPct val="80000"/>
              <a:defRPr/>
            </a:pPr>
            <a:endParaRPr lang="en-US" sz="2600" dirty="0">
              <a:solidFill>
                <a:schemeClr val="tx2">
                  <a:shade val="30000"/>
                  <a:satMod val="1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4802"/>
            <a:ext cx="7406640" cy="78310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Contents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62100"/>
            <a:ext cx="7406640" cy="373380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Introduction</a:t>
            </a:r>
          </a:p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Problem Statement</a:t>
            </a:r>
          </a:p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IN" sz="2000" dirty="0"/>
              <a:t>Objectives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Literature Survey</a:t>
            </a:r>
          </a:p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Proposed Solution / Methodology</a:t>
            </a:r>
          </a:p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Results &amp; Analysis</a:t>
            </a:r>
          </a:p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Conclusion &amp; Future Work</a:t>
            </a:r>
          </a:p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Acknowledgements</a:t>
            </a:r>
          </a:p>
          <a:p>
            <a:pPr>
              <a:spcBef>
                <a:spcPts val="12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References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38872"/>
            <a:ext cx="1563131" cy="14090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716042"/>
            <a:ext cx="8458200" cy="4989561"/>
          </a:xfrm>
        </p:spPr>
        <p:txBody>
          <a:bodyPr>
            <a:normAutofit fontScale="92500"/>
          </a:bodyPr>
          <a:lstStyle/>
          <a:p>
            <a:pPr marL="484620" indent="-457189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The rapid growth of online job platforms has created an overwhelming number of job listings, making it difficult for job seekers to find roles matching their skills and interests.</a:t>
            </a:r>
            <a:br>
              <a:rPr lang="en-US" sz="2400" dirty="0"/>
            </a:br>
            <a:r>
              <a:rPr lang="en-US" sz="2400" dirty="0"/>
              <a:t>Traditional keyword-based search often fails to capture context and relevance. </a:t>
            </a:r>
          </a:p>
          <a:p>
            <a:pPr marL="484620" indent="-457189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Efficient job matching is essential, as manual filtering is time-consuming and often inaccurate, leading to missed opportunities for both job seekers and recruiters.</a:t>
            </a:r>
            <a:br>
              <a:rPr lang="en-US" sz="2400" dirty="0"/>
            </a:br>
            <a:r>
              <a:rPr lang="en-US" sz="2400" dirty="0"/>
              <a:t>This creates the need for intelligent and personalized recommendation systems. </a:t>
            </a:r>
          </a:p>
          <a:p>
            <a:pPr marL="484620" indent="-457189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With advancements in AI, Machine Learning, and NLP, this project proposes </a:t>
            </a:r>
            <a:r>
              <a:rPr lang="en-US" sz="2400" i="1" dirty="0" err="1"/>
              <a:t>HireHub</a:t>
            </a:r>
            <a:r>
              <a:rPr lang="en-US" sz="2400" dirty="0"/>
              <a:t>, a hybrid job recommender system.</a:t>
            </a:r>
            <a:br>
              <a:rPr lang="en-US" sz="2400" dirty="0"/>
            </a:br>
            <a:r>
              <a:rPr lang="en-US" sz="2400" dirty="0"/>
              <a:t>It combines content-based techniques and popularity-based ranking to deliver relevant results through search and resume analysis.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C898-EE25-57C1-C86E-A59D09122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59E3-8475-1EA1-7A22-69F2989E0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Problem Statement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7010BF-24AE-04E9-FE2F-B87EF594E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A14BB947-5B27-77AC-B656-AF73669002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3" y="2303622"/>
            <a:ext cx="830579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Existing job portals fail to provide accurate and personalized job recommendations. Traditional keyword-based search cannot effectively capture context, skills, and user intent. </a:t>
            </a:r>
          </a:p>
          <a:p>
            <a:pPr mar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44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A00C-D026-1CBE-7D43-6F350EBB0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5CA94-A1B7-679A-593A-58BB6FBC0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Objectives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91B4D-0338-375B-20C5-A4A95F220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F44AC68-B1F9-CB6B-91D8-1B9B0CF3A0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7701" y="1834150"/>
            <a:ext cx="83439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To develop an intelligent job recommender system that analyzes user queries and resumes to provide accurate and relevant job suggestions.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To implement a hybrid filtering approach combining content-based techniques and popularity-based ranking for improved recommendation quality.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To enhance user experience by enabling personalized, efficient, and context-aware job search through search-based and resume-based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300220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3831-7064-9145-C2C6-5D447FF9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30BE-BAA0-8910-2AFF-FE72950E1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Literature Survey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CEFC2-57F8-4A70-E3FD-92390E8DE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F9FA81-48B5-1783-D81A-2C1C9B430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00615"/>
              </p:ext>
            </p:extLst>
          </p:nvPr>
        </p:nvGraphicFramePr>
        <p:xfrm>
          <a:off x="1371600" y="1412082"/>
          <a:ext cx="7620000" cy="3891679"/>
        </p:xfrm>
        <a:graphic>
          <a:graphicData uri="http://schemas.openxmlformats.org/drawingml/2006/table">
            <a:tbl>
              <a:tblPr>
                <a:solidFill>
                  <a:srgbClr val="FDF1C3"/>
                </a:solidFill>
                <a:tableStyleId>{21E4AEA4-8DFA-4A89-87EB-49C32662AFE0}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44315773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17899687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9083378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97744295"/>
                    </a:ext>
                  </a:extLst>
                </a:gridCol>
              </a:tblGrid>
              <a:tr h="643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Author &amp; Year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Technique Used</a:t>
                      </a:r>
                      <a:endParaRPr lang="en-IN" sz="190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Key Contribution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Limitation</a:t>
                      </a:r>
                      <a:endParaRPr lang="en-IN" sz="190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631624"/>
                  </a:ext>
                </a:extLst>
              </a:tr>
              <a:tr h="1425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19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Suryawanshi</a:t>
                      </a:r>
                      <a:r>
                        <a:rPr kumimoji="0"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kumimoji="0" lang="en-IN" sz="19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 al.</a:t>
                      </a:r>
                      <a:r>
                        <a:rPr kumimoji="0"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(2025) 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Hybrid (TF-IDF + NLP)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Automated resume parsing &amp; TF-IDF matching</a:t>
                      </a:r>
                      <a:endParaRPr lang="en-US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structured resume data</a:t>
                      </a:r>
                      <a:endParaRPr lang="en-US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067739"/>
                  </a:ext>
                </a:extLst>
              </a:tr>
              <a:tr h="1781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Sangeetha et al. (2025)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Hybrid (TF-IDF + BERT)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Combines semantic understanding with text similarity for better accuracy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High computational cost and model complexity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03138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D81C02-FF1A-5F49-DA89-0A150B48A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469787"/>
              </p:ext>
            </p:extLst>
          </p:nvPr>
        </p:nvGraphicFramePr>
        <p:xfrm>
          <a:off x="1371600" y="5295293"/>
          <a:ext cx="7620000" cy="1055814"/>
        </p:xfrm>
        <a:graphic>
          <a:graphicData uri="http://schemas.openxmlformats.org/drawingml/2006/table">
            <a:tbl>
              <a:tblPr>
                <a:solidFill>
                  <a:srgbClr val="FDF1C3"/>
                </a:solidFill>
                <a:tableStyleId>{21E4AEA4-8DFA-4A89-87EB-49C32662AFE0}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91466080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2269748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61291992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777433370"/>
                    </a:ext>
                  </a:extLst>
                </a:gridCol>
              </a:tblGrid>
              <a:tr h="1055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19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Patidar et al.</a:t>
                      </a:r>
                      <a:r>
                        <a:rPr kumimoji="0"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(2020)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IN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Hybrid (TF-IDF + Popularity)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kumimoji="0" lang="en-US" sz="1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News rec. system using popularity-weighted TF-IDF</a:t>
                      </a:r>
                      <a:endParaRPr lang="en-US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Suffers from cold-start and data sparsity problems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91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45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FB5E-3E34-BFF7-7088-83E6CF88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B080-8A67-B3F4-33DF-42350D960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Literature Survey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C313E-27A5-D813-EABF-EA41B429F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341842-9D6A-9709-295C-B9BAFC992F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902549"/>
              </p:ext>
            </p:extLst>
          </p:nvPr>
        </p:nvGraphicFramePr>
        <p:xfrm>
          <a:off x="1360103" y="1228165"/>
          <a:ext cx="7631496" cy="5477435"/>
        </p:xfrm>
        <a:graphic>
          <a:graphicData uri="http://schemas.openxmlformats.org/drawingml/2006/table">
            <a:tbl>
              <a:tblPr>
                <a:solidFill>
                  <a:srgbClr val="FDF1C3"/>
                </a:solidFill>
                <a:tableStyleId>{21E4AEA4-8DFA-4A89-87EB-49C32662AFE0}</a:tableStyleId>
              </a:tblPr>
              <a:tblGrid>
                <a:gridCol w="1907874">
                  <a:extLst>
                    <a:ext uri="{9D8B030D-6E8A-4147-A177-3AD203B41FA5}">
                      <a16:colId xmlns:a16="http://schemas.microsoft.com/office/drawing/2014/main" val="1443157733"/>
                    </a:ext>
                  </a:extLst>
                </a:gridCol>
                <a:gridCol w="1907874">
                  <a:extLst>
                    <a:ext uri="{9D8B030D-6E8A-4147-A177-3AD203B41FA5}">
                      <a16:colId xmlns:a16="http://schemas.microsoft.com/office/drawing/2014/main" val="2178996879"/>
                    </a:ext>
                  </a:extLst>
                </a:gridCol>
                <a:gridCol w="1907874">
                  <a:extLst>
                    <a:ext uri="{9D8B030D-6E8A-4147-A177-3AD203B41FA5}">
                      <a16:colId xmlns:a16="http://schemas.microsoft.com/office/drawing/2014/main" val="3590833784"/>
                    </a:ext>
                  </a:extLst>
                </a:gridCol>
                <a:gridCol w="1907874">
                  <a:extLst>
                    <a:ext uri="{9D8B030D-6E8A-4147-A177-3AD203B41FA5}">
                      <a16:colId xmlns:a16="http://schemas.microsoft.com/office/drawing/2014/main" val="2097744295"/>
                    </a:ext>
                  </a:extLst>
                </a:gridCol>
              </a:tblGrid>
              <a:tr h="62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Author &amp; Year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/>
                        <a:t>Technique Used</a:t>
                      </a:r>
                      <a:endParaRPr lang="en-IN" sz="190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Key Contribution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Limitation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631624"/>
                  </a:ext>
                </a:extLst>
              </a:tr>
              <a:tr h="17308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900" dirty="0"/>
                        <a:t>Gupta &amp; Singh (2020)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900"/>
                        <a:t>Content-Based Filtering (TF-IDF)</a:t>
                      </a:r>
                      <a:endParaRPr lang="en-IN" sz="1900" dirty="0"/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/>
                        <a:t>Effective text-based job matching using TF-IDF and similarity measures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/>
                        <a:t>Limited personalization, ignores user behavior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067739"/>
                  </a:ext>
                </a:extLst>
              </a:tr>
              <a:tr h="1454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900" dirty="0"/>
                        <a:t>Verma &amp; Xu (2023)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900"/>
                        <a:t>Collaborative Filtering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/>
                        <a:t>Uses user interaction data to recommend jobs based on similar users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/>
                        <a:t>Suffers from cold-start and data sparsity problems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215517"/>
                  </a:ext>
                </a:extLst>
              </a:tr>
              <a:tr h="14881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900" dirty="0"/>
                        <a:t>Shrivastava et al. (2022)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900" dirty="0"/>
                        <a:t>Hybrid Filtering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900" dirty="0"/>
                        <a:t>Improve recommendation accuracy and relevance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dirty="0"/>
                        <a:t>Requires structured data and higher complexity</a:t>
                      </a:r>
                    </a:p>
                  </a:txBody>
                  <a:tcPr marL="75009" marR="75009" marT="37505" marB="37505">
                    <a:solidFill>
                      <a:srgbClr val="F9DE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031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23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F862-0CBA-114F-E733-1FA3A2D41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38DD1-FE8B-FCFF-6BF2-68D75DFC6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3" y="426550"/>
            <a:ext cx="7832948" cy="1326051"/>
          </a:xfrm>
        </p:spPr>
        <p:txBody>
          <a:bodyPr>
            <a:noAutofit/>
          </a:bodyPr>
          <a:lstStyle/>
          <a:p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Proposed Solution / Methodology</a:t>
            </a:r>
            <a:br>
              <a:rPr lang="en-US" sz="4400" dirty="0">
                <a:solidFill>
                  <a:schemeClr val="tx2">
                    <a:lumMod val="75000"/>
                  </a:schemeClr>
                </a:solidFill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CDEAF-8343-E037-CB0A-B6BA4B14B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560000"/>
            <a:ext cx="8458200" cy="5181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   </a:t>
            </a:r>
            <a:r>
              <a:rPr lang="en-IN" sz="2400" b="1" dirty="0">
                <a:solidFill>
                  <a:schemeClr val="tx1"/>
                </a:solidFill>
              </a:rPr>
              <a:t>Approach:</a:t>
            </a:r>
            <a:endParaRPr lang="en-IN" sz="2400" dirty="0">
              <a:solidFill>
                <a:schemeClr val="tx1"/>
              </a:solidFill>
            </a:endParaRP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The proposed system, </a:t>
            </a:r>
            <a:r>
              <a:rPr lang="en-US" altLang="en-US" sz="2200" i="1" dirty="0" err="1">
                <a:solidFill>
                  <a:schemeClr val="tx1"/>
                </a:solidFill>
              </a:rPr>
              <a:t>HireHub</a:t>
            </a:r>
            <a:r>
              <a:rPr lang="en-US" altLang="en-US" sz="2200" dirty="0">
                <a:solidFill>
                  <a:schemeClr val="tx1"/>
                </a:solidFill>
              </a:rPr>
              <a:t>, is a web-based job recommender platform designed to provide personalized and relevant job suggestions.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It follows a hybrid recommendation approach, combining content-based filtering with a popularity-based component to improve accuracy and ranking.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The system supports two modes: </a:t>
            </a:r>
          </a:p>
          <a:p>
            <a:pPr marL="772649" lvl="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200" dirty="0"/>
              <a:t>Search-based recommendation using user queries (role, location, experience) </a:t>
            </a:r>
          </a:p>
          <a:p>
            <a:pPr marL="772649" lvl="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200" dirty="0"/>
              <a:t>Resume-based recommendation by extracting skills from uploaded resumes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92DDD7-5100-04B4-067E-514325970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7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F769E-72D9-341B-F11E-72A769F08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905E-010C-CD0C-F6DA-A20F990E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Proposed Solution / Methodology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651B9-A907-DB89-8E06-8004EAD6B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3D02357-83B7-FC21-3ADE-B4863F0BD97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800600" y="1471963"/>
            <a:ext cx="4107688" cy="4832092"/>
          </a:xfrm>
          <a:prstGeom prst="rect">
            <a:avLst/>
          </a:prstGeom>
          <a:solidFill>
            <a:srgbClr val="FEFAE8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/>
              <a:t>TF-IDF Vectorization</a:t>
            </a:r>
            <a:r>
              <a:rPr lang="en-US" altLang="en-US" sz="2200" dirty="0"/>
              <a:t> is used to convert job descriptions and user inputs into numerical vectors for comparison.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/>
              <a:t>Cosine Similarity</a:t>
            </a:r>
            <a:r>
              <a:rPr lang="en-US" altLang="en-US" sz="2200" dirty="0"/>
              <a:t> measures the relevance between user profile (query/resume) and job descriptions.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/>
              <a:t>Resume Parsing &amp; Skill Extraction</a:t>
            </a:r>
            <a:r>
              <a:rPr lang="en-US" altLang="en-US" sz="2200" dirty="0"/>
              <a:t> techniques are used to extract meaningful information from PDF/DOCX resumes.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D64883-18EA-6022-2170-CC2D21812B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98102"/>
            <a:ext cx="3733800" cy="4664075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4226939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41F9-80B5-79A0-EBE9-419DE461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3070E-284F-FBF2-5DCE-4D4BA2351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3" y="426550"/>
            <a:ext cx="7832948" cy="1326051"/>
          </a:xfrm>
        </p:spPr>
        <p:txBody>
          <a:bodyPr>
            <a:noAutofit/>
          </a:bodyPr>
          <a:lstStyle/>
          <a:p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Proposed Solution / Methodology</a:t>
            </a:r>
            <a:br>
              <a:rPr lang="en-US" sz="4400" dirty="0">
                <a:solidFill>
                  <a:schemeClr val="tx2">
                    <a:lumMod val="75000"/>
                  </a:schemeClr>
                </a:solidFill>
              </a:rPr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BA0E2-9114-E532-2B42-E1D7217A3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2728E5A7-FD4E-C537-220C-B3F5C2726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752602"/>
            <a:ext cx="8382000" cy="1981201"/>
          </a:xfrm>
        </p:spPr>
        <p:txBody>
          <a:bodyPr>
            <a:normAutofit/>
          </a:bodyPr>
          <a:lstStyle/>
          <a:p>
            <a:pPr marL="370323" indent="-342891"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The workflow includes </a:t>
            </a:r>
            <a:r>
              <a:rPr lang="en-US" altLang="en-US" sz="2200" b="1" dirty="0">
                <a:solidFill>
                  <a:schemeClr val="tx1"/>
                </a:solidFill>
              </a:rPr>
              <a:t>user input → text processing → similarity calculation → hybrid scoring → ranked job results</a:t>
            </a:r>
            <a:r>
              <a:rPr lang="en-US" altLang="en-US" sz="2200" dirty="0">
                <a:solidFill>
                  <a:schemeClr val="tx1"/>
                </a:solidFill>
              </a:rPr>
              <a:t> 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BF80FF-29CC-2B9A-B6B3-58B80A72AE4C}"/>
              </a:ext>
            </a:extLst>
          </p:cNvPr>
          <p:cNvSpPr txBox="1"/>
          <p:nvPr/>
        </p:nvSpPr>
        <p:spPr>
          <a:xfrm>
            <a:off x="3276600" y="6216011"/>
            <a:ext cx="46971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000000"/>
                </a:solidFill>
              </a:rPr>
              <a:t>Hybrid Scoring Mechanism </a:t>
            </a:r>
            <a:endParaRPr lang="en-IN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D4D593-4B4E-E13E-1AC4-71EE2C19C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2" y="2713751"/>
            <a:ext cx="4140843" cy="329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98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B075-2618-1573-C010-AE8D42B88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343F-E7F5-9F60-718D-83169FF08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Proposed Solution /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2E239-E433-CBB7-595D-FBE1ABDDA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722" y="1539876"/>
            <a:ext cx="8062831" cy="4800600"/>
          </a:xfrm>
        </p:spPr>
        <p:txBody>
          <a:bodyPr/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en-US" sz="2200" dirty="0"/>
              <a:t>A </a:t>
            </a:r>
            <a:r>
              <a:rPr lang="en-US" altLang="en-US" sz="2200" b="1" dirty="0"/>
              <a:t>Hybrid Scoring Mechanism</a:t>
            </a:r>
            <a:r>
              <a:rPr lang="en-US" altLang="en-US" sz="2200" dirty="0"/>
              <a:t> combines similarity scores with normalized popularity scores to improve recommendation quality.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5D161D-2949-B913-4780-0423866CC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ADF579-7E36-0A01-13E5-A80978CE7C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58" t="-819" r="15879" b="-1"/>
          <a:stretch>
            <a:fillRect/>
          </a:stretch>
        </p:blipFill>
        <p:spPr>
          <a:xfrm>
            <a:off x="1731879" y="2805118"/>
            <a:ext cx="6444343" cy="902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9E86A6-2C54-DA51-8861-CFCF173BB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3" y="4272191"/>
            <a:ext cx="7622097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59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C6B45-CE8D-CBFE-3F78-279763B3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Proposed Solution / 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740A7-9673-874E-1BDC-D69D9B9A0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28524"/>
            <a:ext cx="8077200" cy="4800600"/>
          </a:xfrm>
        </p:spPr>
        <p:txBody>
          <a:bodyPr>
            <a:normAutofit fontScale="92500"/>
          </a:bodyPr>
          <a:lstStyle/>
          <a:p>
            <a:pPr marL="82294" indent="0">
              <a:lnSpc>
                <a:spcPct val="210000"/>
              </a:lnSpc>
              <a:buNone/>
            </a:pPr>
            <a:r>
              <a:rPr lang="en-IN" sz="2600" b="1" dirty="0"/>
              <a:t>   Tools &amp; Technologies: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/>
              <a:t>Python</a:t>
            </a:r>
            <a:r>
              <a:rPr lang="en-US" altLang="en-US" sz="2400" dirty="0"/>
              <a:t> is used for implementing the recommendation system and machine learning components.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/>
              <a:t>Flask</a:t>
            </a:r>
            <a:r>
              <a:rPr lang="en-US" altLang="en-US" sz="2400" dirty="0"/>
              <a:t> is used for backend development, routing, and handling user interactions.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/>
              <a:t>Pandas and NumPy</a:t>
            </a:r>
            <a:r>
              <a:rPr lang="en-US" altLang="en-US" sz="2400" dirty="0"/>
              <a:t> are used for data preprocessing and numerical computations.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/>
              <a:t>Scikit-learn</a:t>
            </a:r>
            <a:r>
              <a:rPr lang="en-US" altLang="en-US" sz="2400" dirty="0"/>
              <a:t> is used for TF-IDF vectorization and cosine similarity.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dirty="0" err="1"/>
              <a:t>PDFMiner</a:t>
            </a:r>
            <a:r>
              <a:rPr lang="en-US" altLang="en-US" sz="2400" b="1" dirty="0"/>
              <a:t>, PyPDF2, and docx2txt</a:t>
            </a:r>
            <a:r>
              <a:rPr lang="en-US" altLang="en-US" sz="2400" dirty="0"/>
              <a:t> are used for resume parsing and text extraction.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/>
              <a:t>A </a:t>
            </a:r>
            <a:r>
              <a:rPr lang="en-US" altLang="en-US" sz="2400" b="1" dirty="0"/>
              <a:t>web-based interface (HTML, CSS, JavaScript)</a:t>
            </a:r>
            <a:r>
              <a:rPr lang="en-US" altLang="en-US" sz="2400" dirty="0"/>
              <a:t> enables job search, resume upload, voice search, and chatbot interaction.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2CAB6-54BD-2CF2-7472-A7FA1EAE5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306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8AA2-0B83-F0F6-24D7-04D235AE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8972-C7DC-D521-65BC-AD2A1B02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Proposed Solution / Methodology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924A5A-01FC-3F5B-D044-2BACD5F951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7D716D88-11D8-188E-4F92-3DE0041A7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610" y="1782763"/>
            <a:ext cx="7499351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cs typeface="Times New Roman" panose="02020603050405020304" pitchFamily="18" charset="0"/>
              </a:rPr>
              <a:t>Dataset Source</a:t>
            </a:r>
            <a:endParaRPr lang="en-IN" sz="2200" dirty="0"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r>
              <a:rPr lang="en-IN" sz="2200" b="1" dirty="0">
                <a:cs typeface="Times New Roman" panose="02020603050405020304" pitchFamily="18" charset="0"/>
              </a:rPr>
              <a:t>Source:</a:t>
            </a:r>
            <a:r>
              <a:rPr lang="en-IN" sz="2200" dirty="0">
                <a:cs typeface="Times New Roman" panose="02020603050405020304" pitchFamily="18" charset="0"/>
              </a:rPr>
              <a:t> Kaggle</a:t>
            </a:r>
          </a:p>
          <a:p>
            <a:pPr>
              <a:buClr>
                <a:schemeClr val="tx1"/>
              </a:buClr>
            </a:pPr>
            <a:r>
              <a:rPr lang="en-IN" sz="2200" b="1" dirty="0">
                <a:cs typeface="Times New Roman" panose="02020603050405020304" pitchFamily="18" charset="0"/>
              </a:rPr>
              <a:t>Dataset Name:</a:t>
            </a:r>
            <a:r>
              <a:rPr lang="en-IN" sz="2200" dirty="0">
                <a:cs typeface="Times New Roman" panose="02020603050405020304" pitchFamily="18" charset="0"/>
              </a:rPr>
              <a:t> LinkedIn Canada Data Science Jobs 2024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b="1" dirty="0">
                <a:cs typeface="Times New Roman" panose="02020603050405020304" pitchFamily="18" charset="0"/>
              </a:rPr>
              <a:t>Dataset Size:</a:t>
            </a:r>
            <a:endParaRPr lang="en-IN" sz="2200" dirty="0">
              <a:cs typeface="Times New Roman" panose="02020603050405020304" pitchFamily="18" charset="0"/>
            </a:endParaRPr>
          </a:p>
          <a:p>
            <a:pPr marL="342891" indent="-34289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200" dirty="0">
                <a:cs typeface="Times New Roman" panose="02020603050405020304" pitchFamily="18" charset="0"/>
              </a:rPr>
              <a:t>Rows: 315 rows (job listings)</a:t>
            </a:r>
          </a:p>
          <a:p>
            <a:pPr marL="342891" indent="-342891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sz="2200" dirty="0">
                <a:cs typeface="Times New Roman" panose="02020603050405020304" pitchFamily="18" charset="0"/>
              </a:rPr>
              <a:t>Columns:10 columns (features)</a:t>
            </a:r>
          </a:p>
          <a:p>
            <a:pPr marL="82294" indent="0" algn="just">
              <a:buNone/>
            </a:pPr>
            <a:r>
              <a:rPr lang="en-US" sz="2200" dirty="0"/>
              <a:t>It contains job-related information such as </a:t>
            </a:r>
            <a:r>
              <a:rPr lang="en-US" sz="2200" b="1" dirty="0"/>
              <a:t>job title, company, location, skills, job description, and application count</a:t>
            </a:r>
            <a:r>
              <a:rPr lang="en-US" sz="2200" dirty="0"/>
              <a:t>.</a:t>
            </a:r>
            <a:endParaRPr lang="en-IN" sz="2200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>
              <a:lnSpc>
                <a:spcPct val="260000"/>
              </a:lnSpc>
            </a:pPr>
            <a:endParaRPr lang="en-IN" b="1" dirty="0"/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920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E806-6E3F-D641-CC45-C096B45A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5EF1-F5B9-B995-EEB0-94A429489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Results &amp;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9704A-45E0-7FBC-F514-3353D27C1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6884" y="1417320"/>
            <a:ext cx="3657600" cy="685800"/>
          </a:xfrm>
        </p:spPr>
        <p:txBody>
          <a:bodyPr>
            <a:normAutofit/>
          </a:bodyPr>
          <a:lstStyle/>
          <a:p>
            <a:pPr marL="82294" indent="0">
              <a:buNone/>
            </a:pPr>
            <a:r>
              <a:rPr lang="en-IN" sz="2200" b="1" dirty="0"/>
              <a:t>Graphs: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FC6859-FD29-DDAF-31EA-4CFA05E37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1809C9-D07E-AF86-E22C-57C390567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247901"/>
            <a:ext cx="5791200" cy="306738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2E28C1-7987-ACEC-4205-75BB661E8106}"/>
              </a:ext>
            </a:extLst>
          </p:cNvPr>
          <p:cNvSpPr txBox="1"/>
          <p:nvPr/>
        </p:nvSpPr>
        <p:spPr>
          <a:xfrm>
            <a:off x="3505200" y="5500715"/>
            <a:ext cx="457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/>
              <a:t>Hybrid Score </a:t>
            </a:r>
            <a:r>
              <a:rPr lang="en-IN" sz="2200" dirty="0" err="1"/>
              <a:t>Behavior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664951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1D32-FD72-19E8-3161-6E143E0CA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CB81-17BD-308B-BE4E-E23640EF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Results &amp;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C5BDC-958C-9A5B-D96E-4F254562B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6884" y="1417320"/>
            <a:ext cx="3657600" cy="685800"/>
          </a:xfrm>
        </p:spPr>
        <p:txBody>
          <a:bodyPr>
            <a:normAutofit/>
          </a:bodyPr>
          <a:lstStyle/>
          <a:p>
            <a:pPr marL="82294" indent="0">
              <a:buNone/>
            </a:pPr>
            <a:r>
              <a:rPr lang="en-IN" sz="2200" b="1" dirty="0"/>
              <a:t>Graphs: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481EC-F507-1C69-2C75-E82572395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0400" y="5440680"/>
            <a:ext cx="3657600" cy="1143000"/>
          </a:xfrm>
        </p:spPr>
        <p:txBody>
          <a:bodyPr>
            <a:normAutofit/>
          </a:bodyPr>
          <a:lstStyle/>
          <a:p>
            <a:pPr marL="82294" indent="0">
              <a:buNone/>
            </a:pPr>
            <a:r>
              <a:rPr lang="en-IN" sz="2200" dirty="0"/>
              <a:t>TF-IDF Similarity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61284-513E-0757-672C-366F1BAEC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8060A5-EE4A-D1BF-AE39-97BA4F55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1989688"/>
            <a:ext cx="5486400" cy="3191912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3756987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8E9A-8182-1A6E-593A-32C5F636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20DA-D758-5112-400C-B77CC6B89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Results &amp;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DE8E1-3F7B-498D-44F9-F89B95100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1524440"/>
            <a:ext cx="7315200" cy="3489960"/>
          </a:xfrm>
          <a:solidFill>
            <a:srgbClr val="FEFAE8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rmAutofit/>
          </a:bodyPr>
          <a:lstStyle/>
          <a:p>
            <a:pPr marL="82294" indent="0">
              <a:lnSpc>
                <a:spcPct val="250000"/>
              </a:lnSpc>
              <a:buNone/>
            </a:pPr>
            <a:r>
              <a:rPr lang="en-IN" sz="2200" b="1" dirty="0"/>
              <a:t>Key Outcomes: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/>
              <a:t>Hybrid approach improves accuracy and relevance of job recommendations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/>
              <a:t>Combines text similarity and job popularity for better ranking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/>
              <a:t>Supports both search-based and resume-based personalization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12A151-70BF-FC8E-44CE-177C8B7C0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78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D528-7DFD-8A37-EAF8-24A6EDDFD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6FFE-B7A6-2AA0-5A68-E98BE5B0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Results &amp; Analysis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984BE-6564-2FA3-656E-553290A12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38C8FA2-6D3F-E357-7924-E02E232BCF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133603" y="3581400"/>
            <a:ext cx="5978143" cy="313392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/>
        </p:spPr>
      </p:pic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70340B9-4087-47A0-7E50-64E5EFEC0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540" y="1264920"/>
            <a:ext cx="7925063" cy="2164080"/>
          </a:xfrm>
          <a:solidFill>
            <a:srgbClr val="FEFAE8"/>
          </a:solidFill>
          <a:ln>
            <a:noFill/>
          </a:ln>
          <a:effectLst/>
        </p:spPr>
        <p:txBody>
          <a:bodyPr>
            <a:normAutofit/>
          </a:bodyPr>
          <a:lstStyle/>
          <a:p>
            <a:pPr marL="82294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IN" sz="2200" b="1" dirty="0"/>
              <a:t>Interpretation: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dirty="0"/>
              <a:t>TF-IDF and cosine similarity ensure context-aware matching of skills and jobs 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dirty="0"/>
              <a:t>Popularity score reflects real-world job demand and trends 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dirty="0"/>
              <a:t>Hybrid model balances user intent with market relevance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767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77DB-CC69-4E37-2E49-B8C5D79F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2E0E-2FE8-57F1-39D7-7EDE8018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Results &amp; Analysis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218A6-B672-0C37-95EB-4EC16B433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EA016AD-9C4A-8484-2E98-AF63A0637E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961406"/>
              </p:ext>
            </p:extLst>
          </p:nvPr>
        </p:nvGraphicFramePr>
        <p:xfrm>
          <a:off x="1435103" y="2065020"/>
          <a:ext cx="7499348" cy="4023360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874837">
                  <a:extLst>
                    <a:ext uri="{9D8B030D-6E8A-4147-A177-3AD203B41FA5}">
                      <a16:colId xmlns:a16="http://schemas.microsoft.com/office/drawing/2014/main" val="2924511795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90779796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3723463867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428456688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Criteria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Content-Based Filtering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Collaborative Filtering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Hybrid Approach (Proposed)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962750"/>
                  </a:ext>
                </a:extLst>
              </a:tr>
              <a:tr h="944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Data Used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Item features, skills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User interactions, ratings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Combines both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757075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Personalization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Based on user profile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Based on similar users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More accurate personalization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994676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Cold Start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Handles better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Major issue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Reduced impact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78424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Accuracy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Limited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Moderate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/>
                        <a:t>High (best performance)</a:t>
                      </a:r>
                      <a:endParaRPr lang="en-IN" sz="1900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30481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Limitation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Ignores popularity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Data sparsity, cold start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/>
                        <a:t>Slightly complex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2193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D226FDA-6D1F-103A-A049-573C8C168DD5}"/>
              </a:ext>
            </a:extLst>
          </p:cNvPr>
          <p:cNvSpPr txBox="1"/>
          <p:nvPr/>
        </p:nvSpPr>
        <p:spPr>
          <a:xfrm>
            <a:off x="1295403" y="1417323"/>
            <a:ext cx="18902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Comparison:</a:t>
            </a:r>
          </a:p>
        </p:txBody>
      </p:sp>
    </p:spTree>
    <p:extLst>
      <p:ext uri="{BB962C8B-B14F-4D97-AF65-F5344CB8AC3E}">
        <p14:creationId xmlns:p14="http://schemas.microsoft.com/office/powerpoint/2010/main" val="190109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0B57-445B-FA9D-658B-E13F17EED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5196-3E35-2F93-92F3-AF001BC22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Conclusion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5EFBB-EA43-E708-7935-0963BD28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2" y="1981200"/>
            <a:ext cx="7608159" cy="4307400"/>
          </a:xfrm>
        </p:spPr>
        <p:txBody>
          <a:bodyPr>
            <a:normAutofit/>
          </a:bodyPr>
          <a:lstStyle/>
          <a:p>
            <a:pPr marL="370323" indent="-342891" algn="just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200" dirty="0"/>
              <a:t>Developed </a:t>
            </a:r>
            <a:r>
              <a:rPr lang="en-US" sz="2200" i="1" dirty="0" err="1"/>
              <a:t>HireHub</a:t>
            </a:r>
            <a:r>
              <a:rPr lang="en-US" sz="2200" dirty="0"/>
              <a:t>, a hybrid job recommender system combining content-based filtering and popularity-based ranking</a:t>
            </a:r>
            <a:endParaRPr lang="en-IN" sz="2200" dirty="0"/>
          </a:p>
          <a:p>
            <a:pPr marL="370323" indent="-342891" algn="just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200" dirty="0"/>
              <a:t>Achieved improved accuracy and relevance in job matching using TF-IDF and hybrid scoring</a:t>
            </a:r>
            <a:endParaRPr lang="en-IN" sz="2200" dirty="0"/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Hybrid recommendation provides better results than single-method approaches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200" dirty="0">
                <a:solidFill>
                  <a:schemeClr val="tx1"/>
                </a:solidFill>
              </a:rPr>
              <a:t>Balances user skills, preferences, and real-world job demand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39B26-CED1-BB41-57AE-DA1A0EC9A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46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CC9B-8CAF-23D4-0E50-A2CBF4C0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E799-10D1-589D-680A-C0D7A6AF9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Future Work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7178B-254A-B337-D7DA-6728A4CAB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EE0AE92-0D8A-04AB-5305-94CB229898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" y="1606887"/>
            <a:ext cx="7696200" cy="48320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chemeClr val="tx1"/>
                </a:solidFill>
              </a:rPr>
              <a:t>Skill Gap Analysis</a:t>
            </a:r>
            <a:br>
              <a:rPr lang="en-US" altLang="en-US" sz="2200" dirty="0">
                <a:solidFill>
                  <a:schemeClr val="tx1"/>
                </a:solidFill>
              </a:rPr>
            </a:br>
            <a:r>
              <a:rPr lang="en-US" altLang="en-US" sz="2200" dirty="0">
                <a:solidFill>
                  <a:schemeClr val="tx1"/>
                </a:solidFill>
              </a:rPr>
              <a:t>Identify missing skills required for recommended jobs.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chemeClr val="tx1"/>
                </a:solidFill>
              </a:rPr>
              <a:t>Learning Resource Recommendation</a:t>
            </a:r>
            <a:br>
              <a:rPr lang="en-US" altLang="en-US" sz="2200" dirty="0">
                <a:solidFill>
                  <a:schemeClr val="tx1"/>
                </a:solidFill>
              </a:rPr>
            </a:br>
            <a:r>
              <a:rPr lang="en-US" altLang="en-US" sz="2200" dirty="0">
                <a:solidFill>
                  <a:schemeClr val="tx1"/>
                </a:solidFill>
              </a:rPr>
              <a:t>Suggest relevant courses and materials to help users acquire missing skills.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sz="2200" b="1" dirty="0">
                <a:solidFill>
                  <a:schemeClr val="tx1"/>
                </a:solidFill>
              </a:rPr>
              <a:t>OCR-Based Resume Processing</a:t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Use Optical Character Recognition (OCR) to extract text from scanned or image-based resumes</a:t>
            </a:r>
            <a:r>
              <a:rPr lang="en-US" altLang="en-US" sz="2200" dirty="0">
                <a:solidFill>
                  <a:schemeClr val="tx1"/>
                </a:solidFill>
              </a:rPr>
              <a:t>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chemeClr val="tx1"/>
                </a:solidFill>
              </a:rPr>
              <a:t>Advanced NLP Models</a:t>
            </a:r>
            <a:br>
              <a:rPr lang="en-US" altLang="en-US" sz="2200" dirty="0">
                <a:solidFill>
                  <a:schemeClr val="tx1"/>
                </a:solidFill>
              </a:rPr>
            </a:br>
            <a:r>
              <a:rPr lang="en-US" altLang="en-US" sz="2200" dirty="0">
                <a:solidFill>
                  <a:schemeClr val="tx1"/>
                </a:solidFill>
              </a:rPr>
              <a:t>Replace TF-IDF with models like BERT for improved semantic understanding. </a:t>
            </a:r>
          </a:p>
          <a:p>
            <a:pPr marL="342891" indent="-342891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b="1" dirty="0">
                <a:solidFill>
                  <a:schemeClr val="tx1"/>
                </a:solidFill>
              </a:rPr>
              <a:t>User Personalization</a:t>
            </a:r>
            <a:br>
              <a:rPr lang="en-US" altLang="en-US" sz="2200" dirty="0">
                <a:solidFill>
                  <a:schemeClr val="tx1"/>
                </a:solidFill>
              </a:rPr>
            </a:br>
            <a:r>
              <a:rPr lang="en-US" altLang="en-US" sz="2200" dirty="0">
                <a:solidFill>
                  <a:schemeClr val="tx1"/>
                </a:solidFill>
              </a:rPr>
              <a:t>Use user behavior (clicks, saved jobs) to enhance recommendation accuracy. </a:t>
            </a:r>
          </a:p>
        </p:txBody>
      </p:sp>
    </p:spTree>
    <p:extLst>
      <p:ext uri="{BB962C8B-B14F-4D97-AF65-F5344CB8AC3E}">
        <p14:creationId xmlns:p14="http://schemas.microsoft.com/office/powerpoint/2010/main" val="3050126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030C7-18C6-E346-27F7-FBCC0F0E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C67C-F371-AAD0-0211-CDDED8F54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Acknowledgements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ECECE-7E6C-6FB3-7B7D-79417927E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453" y="1407600"/>
            <a:ext cx="13243148" cy="1752600"/>
          </a:xfrm>
        </p:spPr>
        <p:txBody>
          <a:bodyPr/>
          <a:lstStyle/>
          <a:p>
            <a:endParaRPr lang="en-I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8AC4D2-53D6-CF00-A185-369DE857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3871EC-D5AE-FAF7-FB8C-FC174DE42D03}"/>
              </a:ext>
            </a:extLst>
          </p:cNvPr>
          <p:cNvSpPr txBox="1"/>
          <p:nvPr/>
        </p:nvSpPr>
        <p:spPr>
          <a:xfrm>
            <a:off x="609600" y="2466698"/>
            <a:ext cx="79248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I would like to express my sincere gratitude to my </a:t>
            </a:r>
            <a:r>
              <a:rPr lang="en-US" altLang="en-US" sz="2200" b="1" dirty="0"/>
              <a:t>project guide, Dr. Shashank Srivastava</a:t>
            </a:r>
            <a:r>
              <a:rPr lang="en-US" altLang="en-US" sz="2200" dirty="0"/>
              <a:t>, for his valuable guidance, support, and continuous encouragement throughout this project.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200" dirty="0"/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200" dirty="0"/>
              <a:t>I also thank </a:t>
            </a:r>
            <a:r>
              <a:rPr lang="en-US" altLang="en-US" sz="2200" b="1" dirty="0"/>
              <a:t>Buddha Institute of Technology, Gorakhpur</a:t>
            </a:r>
            <a:r>
              <a:rPr lang="en-US" altLang="en-US" sz="2200" dirty="0"/>
              <a:t>, for providing the resources and environment to successfully complete this work. </a:t>
            </a:r>
          </a:p>
        </p:txBody>
      </p:sp>
    </p:spTree>
    <p:extLst>
      <p:ext uri="{BB962C8B-B14F-4D97-AF65-F5344CB8AC3E}">
        <p14:creationId xmlns:p14="http://schemas.microsoft.com/office/powerpoint/2010/main" val="3429819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922D9-E11C-5458-3D9F-E3F4665C2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0733-8E58-A4C8-C37E-DFE4537C2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References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3455DF-C4B2-A682-B4EC-9A7198095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295400"/>
            <a:ext cx="8153400" cy="5298000"/>
          </a:xfrm>
        </p:spPr>
        <p:txBody>
          <a:bodyPr>
            <a:normAutofit fontScale="92500" lnSpcReduction="10000"/>
          </a:bodyPr>
          <a:lstStyle/>
          <a:p>
            <a:pPr algn="just"/>
            <a:endParaRPr lang="en-IN" dirty="0"/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Patidar, C. P., Sharma, M., &amp; Katara, Y. (2020). </a:t>
            </a:r>
            <a:r>
              <a:rPr lang="en-US" altLang="en-US" sz="2400" i="1" dirty="0">
                <a:solidFill>
                  <a:schemeClr val="tx1"/>
                </a:solidFill>
              </a:rPr>
              <a:t>Hybrid Recommendation System using TF-IDF and Popularity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Sangeetha, N., Thangaraj, H., &amp; Vashisht, V. (2025). </a:t>
            </a:r>
            <a:r>
              <a:rPr lang="en-US" altLang="en-US" sz="2400" i="1" dirty="0">
                <a:solidFill>
                  <a:schemeClr val="tx1"/>
                </a:solidFill>
              </a:rPr>
              <a:t>A BERT-Based Hybrid Recommendation System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 err="1">
                <a:solidFill>
                  <a:schemeClr val="tx1"/>
                </a:solidFill>
              </a:rPr>
              <a:t>Suryawanshi</a:t>
            </a:r>
            <a:r>
              <a:rPr lang="en-US" altLang="en-US" sz="2400" dirty="0">
                <a:solidFill>
                  <a:schemeClr val="tx1"/>
                </a:solidFill>
              </a:rPr>
              <a:t>, S., Mali, P., &amp; Rasal, S. (2025). </a:t>
            </a:r>
            <a:r>
              <a:rPr lang="en-US" altLang="en-US" sz="2400" i="1" dirty="0">
                <a:solidFill>
                  <a:schemeClr val="tx1"/>
                </a:solidFill>
              </a:rPr>
              <a:t>Resume Parsing and Job Recommendation using NLP and Machine Learning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endParaRPr lang="en-US" altLang="en-US" sz="2400" dirty="0">
              <a:solidFill>
                <a:schemeClr val="tx1"/>
              </a:solidFill>
            </a:endParaRP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Shrivastava, et al. (2022). </a:t>
            </a:r>
            <a:r>
              <a:rPr lang="en-US" altLang="en-US" sz="2400" i="1" dirty="0">
                <a:solidFill>
                  <a:schemeClr val="tx1"/>
                </a:solidFill>
              </a:rPr>
              <a:t>Hybrid Recommendation Systems for Job Matching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Chen, et al. (2023). </a:t>
            </a:r>
            <a:r>
              <a:rPr lang="en-US" altLang="en-US" sz="2400" i="1" dirty="0">
                <a:solidFill>
                  <a:schemeClr val="tx1"/>
                </a:solidFill>
              </a:rPr>
              <a:t>HybridBERT4Rec: Deep Learning-Based Job Recommendation Model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Sharma, et al. (2021). </a:t>
            </a:r>
            <a:r>
              <a:rPr lang="en-US" altLang="en-US" sz="2400" i="1" dirty="0">
                <a:solidFill>
                  <a:schemeClr val="tx1"/>
                </a:solidFill>
              </a:rPr>
              <a:t>TIMBRE: Scalable Job Recommendation Framework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Gupta &amp; Singh (2020). </a:t>
            </a:r>
            <a:r>
              <a:rPr lang="en-US" altLang="en-US" sz="2400" i="1" dirty="0">
                <a:solidFill>
                  <a:schemeClr val="tx1"/>
                </a:solidFill>
              </a:rPr>
              <a:t>TF-IDF Based Job Recommendation Techniques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Verma &amp; Xu (2023). </a:t>
            </a:r>
            <a:r>
              <a:rPr lang="en-US" altLang="en-US" sz="2400" i="1" dirty="0">
                <a:solidFill>
                  <a:schemeClr val="tx1"/>
                </a:solidFill>
              </a:rPr>
              <a:t>Machine Learning Approaches for Resume Parsing and Job Matching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Kaggle Dataset: </a:t>
            </a:r>
            <a:r>
              <a:rPr lang="en-US" altLang="en-US" sz="2400" i="1" dirty="0">
                <a:solidFill>
                  <a:schemeClr val="tx1"/>
                </a:solidFill>
              </a:rPr>
              <a:t>LinkedIn Canada Data Science Jobs 2024</a:t>
            </a:r>
            <a:r>
              <a:rPr lang="en-US" altLang="en-US" sz="2400" dirty="0">
                <a:solidFill>
                  <a:schemeClr val="tx1"/>
                </a:solidFill>
              </a:rPr>
              <a:t>. </a:t>
            </a:r>
          </a:p>
          <a:p>
            <a:pPr marL="342891" indent="-342891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chemeClr val="tx1"/>
              </a:solidFill>
            </a:endParaRP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573B1-9ABF-BB62-E9EC-653CC14D4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09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03873-A732-D926-FCA6-7460609C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81AB-8451-A425-B078-6499D1FFD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452" y="426551"/>
            <a:ext cx="7162800" cy="706903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AC15F-A7E2-F31F-4A53-A09C7E20B0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rgbClr val="C00000"/>
                </a:solidFill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522CEB-3A3E-CBC1-B344-320EFE80B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3125" b="96875" l="5634" r="83099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1" y="152400"/>
            <a:ext cx="1561556" cy="14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592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3961</TotalTime>
  <Words>1290</Words>
  <Application>Microsoft Office PowerPoint</Application>
  <PresentationFormat>On-screen Show (4:3)</PresentationFormat>
  <Paragraphs>169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Gill Sans MT</vt:lpstr>
      <vt:lpstr>Times New Roman</vt:lpstr>
      <vt:lpstr>Verdana</vt:lpstr>
      <vt:lpstr>Wingdings</vt:lpstr>
      <vt:lpstr>Wingdings 2</vt:lpstr>
      <vt:lpstr>Solstice</vt:lpstr>
      <vt:lpstr>1st National Conference On "Intelligent Systems, Machine Learning &amp; Data Science" (ISMLDS-2026) 30th March – 1st April, 2026   Buddha Institute of  Technology  GIDA, Gorakhpur </vt:lpstr>
      <vt:lpstr>Contents</vt:lpstr>
      <vt:lpstr>Introduction</vt:lpstr>
      <vt:lpstr>Problem Statement</vt:lpstr>
      <vt:lpstr>Objectives</vt:lpstr>
      <vt:lpstr>Literature Survey</vt:lpstr>
      <vt:lpstr>Literature Survey</vt:lpstr>
      <vt:lpstr> Proposed Solution / Methodology </vt:lpstr>
      <vt:lpstr>Proposed Solution / Methodology</vt:lpstr>
      <vt:lpstr> Proposed Solution / Methodology </vt:lpstr>
      <vt:lpstr>Proposed Solution / Methodology</vt:lpstr>
      <vt:lpstr>Proposed Solution / Methodology</vt:lpstr>
      <vt:lpstr>Proposed Solution / Methodology</vt:lpstr>
      <vt:lpstr>Results &amp; Analysis</vt:lpstr>
      <vt:lpstr>Results &amp; Analysis</vt:lpstr>
      <vt:lpstr>Results &amp; Analysis</vt:lpstr>
      <vt:lpstr>Results &amp; Analysis</vt:lpstr>
      <vt:lpstr>Results &amp; Analysis</vt:lpstr>
      <vt:lpstr>Conclusion </vt:lpstr>
      <vt:lpstr>Future Work</vt:lpstr>
      <vt:lpstr>Acknowledgements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1st National Conference on Recent Trends in Science, Engineering and Technology (RTSET-2026)   Buddha Institute of  Technology , GIDA, Gorakhpur    Date of Conference: 27th – 28th March, 2026</dc:title>
  <dc:creator>office</dc:creator>
  <cp:lastModifiedBy>Astha Srivastava</cp:lastModifiedBy>
  <cp:revision>31</cp:revision>
  <dcterms:created xsi:type="dcterms:W3CDTF">2006-08-16T00:00:00Z</dcterms:created>
  <dcterms:modified xsi:type="dcterms:W3CDTF">2026-04-01T09:15:48Z</dcterms:modified>
</cp:coreProperties>
</file>